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3"/>
  </p:notesMasterIdLst>
  <p:handoutMasterIdLst>
    <p:handoutMasterId r:id="rId34"/>
  </p:handoutMasterIdLst>
  <p:sldIdLst>
    <p:sldId id="312" r:id="rId5"/>
    <p:sldId id="326" r:id="rId6"/>
    <p:sldId id="307" r:id="rId7"/>
    <p:sldId id="282" r:id="rId8"/>
    <p:sldId id="281" r:id="rId9"/>
    <p:sldId id="314" r:id="rId10"/>
    <p:sldId id="340" r:id="rId11"/>
    <p:sldId id="317" r:id="rId12"/>
    <p:sldId id="315" r:id="rId13"/>
    <p:sldId id="323" r:id="rId14"/>
    <p:sldId id="319" r:id="rId15"/>
    <p:sldId id="327" r:id="rId16"/>
    <p:sldId id="330" r:id="rId17"/>
    <p:sldId id="331" r:id="rId18"/>
    <p:sldId id="336" r:id="rId19"/>
    <p:sldId id="337" r:id="rId20"/>
    <p:sldId id="338" r:id="rId21"/>
    <p:sldId id="339" r:id="rId22"/>
    <p:sldId id="328" r:id="rId23"/>
    <p:sldId id="332" r:id="rId24"/>
    <p:sldId id="329" r:id="rId25"/>
    <p:sldId id="335" r:id="rId26"/>
    <p:sldId id="318" r:id="rId27"/>
    <p:sldId id="325" r:id="rId28"/>
    <p:sldId id="333" r:id="rId29"/>
    <p:sldId id="334" r:id="rId30"/>
    <p:sldId id="324" r:id="rId31"/>
    <p:sldId id="297" r:id="rId3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202C8F"/>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58" d="100"/>
          <a:sy n="58" d="100"/>
        </p:scale>
        <p:origin x="920"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26507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61427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a) collaborative filtering relies on the </a:t>
            </a:r>
            <a:r>
              <a:rPr lang="en-US" b="1" dirty="0"/>
              <a:t>collective behavior</a:t>
            </a:r>
            <a:r>
              <a:rPr lang="en-US" dirty="0"/>
              <a:t> and </a:t>
            </a:r>
            <a:r>
              <a:rPr lang="en-US" b="1" dirty="0"/>
              <a:t>opinions</a:t>
            </a:r>
            <a:r>
              <a:rPr lang="en-US" dirty="0"/>
              <a:t> of users rather than item content or attributes.</a:t>
            </a:r>
          </a:p>
          <a:p>
            <a:r>
              <a:rPr lang="en-US" dirty="0"/>
              <a:t>b) “If User A and User B have similar preferences, and User B likes Item X, then recommend Item X to User A.”</a:t>
            </a:r>
          </a:p>
          <a:p>
            <a:r>
              <a:rPr lang="en-US" dirty="0"/>
              <a:t>c) “If a user liked Item A, and Item A is similar to Item B, recommend Item B to the user.”</a:t>
            </a:r>
          </a:p>
        </p:txBody>
      </p:sp>
    </p:spTree>
    <p:extLst>
      <p:ext uri="{BB962C8B-B14F-4D97-AF65-F5344CB8AC3E}">
        <p14:creationId xmlns:p14="http://schemas.microsoft.com/office/powerpoint/2010/main" val="3325939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22993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87507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microsoft.com/office/2007/relationships/hdphoto" Target="../media/hdphoto2.wdp"/><Relationship Id="rId5" Type="http://schemas.openxmlformats.org/officeDocument/2006/relationships/image" Target="../media/image1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7.png"/><Relationship Id="rId1" Type="http://schemas.openxmlformats.org/officeDocument/2006/relationships/slideLayout" Target="../slideLayouts/slideLayout10.xml"/><Relationship Id="rId4" Type="http://schemas.openxmlformats.org/officeDocument/2006/relationships/hyperlink" Target="https://ar.inspiredpencil.com/pictures-2023/agile-methodology-logo"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32.png"/><Relationship Id="rId4" Type="http://schemas.openxmlformats.org/officeDocument/2006/relationships/hyperlink" Target="https://www.dreamstime.com/vector-project-timeline-graph-progress-chart-eight-stages-infographic-template-time-plan-tasks-intervals-easy-to-use-image172100366"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hyperlink" Target="https://www.slideteam.net/expected-outcomes-powerpoint-ppt-template-bundles.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idx="4294967295"/>
          </p:nvPr>
        </p:nvSpPr>
        <p:spPr>
          <a:xfrm>
            <a:off x="2900362" y="377039"/>
            <a:ext cx="6391275" cy="865171"/>
          </a:xfrm>
        </p:spPr>
        <p:txBody>
          <a:bodyPr anchor="ctr"/>
          <a:lstStyle/>
          <a:p>
            <a:r>
              <a:rPr lang="en-US" dirty="0">
                <a:latin typeface="Times New Roman" panose="02020603050405020304" pitchFamily="18" charset="0"/>
                <a:cs typeface="Times New Roman" panose="02020603050405020304" pitchFamily="18" charset="0"/>
              </a:rPr>
              <a:t>TRIBHUVAN UNIVERSITY</a:t>
            </a:r>
          </a:p>
        </p:txBody>
      </p:sp>
      <p:sp>
        <p:nvSpPr>
          <p:cNvPr id="3" name="TextBox 2">
            <a:extLst>
              <a:ext uri="{FF2B5EF4-FFF2-40B4-BE49-F238E27FC236}">
                <a16:creationId xmlns:a16="http://schemas.microsoft.com/office/drawing/2014/main" id="{19CB735E-7879-4EE8-813C-5A87A7C833A3}"/>
              </a:ext>
            </a:extLst>
          </p:cNvPr>
          <p:cNvSpPr txBox="1"/>
          <p:nvPr/>
        </p:nvSpPr>
        <p:spPr>
          <a:xfrm>
            <a:off x="2893293" y="930361"/>
            <a:ext cx="6631807" cy="623697"/>
          </a:xfrm>
          <a:prstGeom prst="rect">
            <a:avLst/>
          </a:prstGeom>
          <a:noFill/>
        </p:spPr>
        <p:txBody>
          <a:bodyPr wrap="square" rtlCol="0">
            <a:spAutoFit/>
          </a:bodyPr>
          <a:lstStyle/>
          <a:p>
            <a:pPr algn="ctr" defTabSz="914400">
              <a:lnSpc>
                <a:spcPts val="4875"/>
              </a:lnSpc>
              <a:spcBef>
                <a:spcPct val="0"/>
              </a:spcBef>
            </a:pPr>
            <a:r>
              <a:rPr lang="en-US" sz="2000" b="1" cap="all" dirty="0">
                <a:solidFill>
                  <a:schemeClr val="accent6"/>
                </a:solidFill>
                <a:latin typeface="Times New Roman" panose="02020603050405020304" pitchFamily="18" charset="0"/>
                <a:ea typeface="+mj-ea"/>
                <a:cs typeface="Times New Roman" panose="02020603050405020304" pitchFamily="18" charset="0"/>
              </a:rPr>
              <a:t>Faculty of Humanities &amp; Social Sciences</a:t>
            </a:r>
            <a:endParaRPr lang="en-GB" sz="2000" b="1" cap="all" dirty="0">
              <a:solidFill>
                <a:schemeClr val="accent6"/>
              </a:solidFill>
              <a:latin typeface="Times New Roman" panose="02020603050405020304" pitchFamily="18" charset="0"/>
              <a:ea typeface="+mj-ea"/>
              <a:cs typeface="Times New Roman" panose="02020603050405020304" pitchFamily="18" charset="0"/>
            </a:endParaRPr>
          </a:p>
        </p:txBody>
      </p:sp>
      <p:pic>
        <p:nvPicPr>
          <p:cNvPr id="1026" name="Picture 2" descr="Image result for Tribhuvan University Nepal Logo">
            <a:extLst>
              <a:ext uri="{FF2B5EF4-FFF2-40B4-BE49-F238E27FC236}">
                <a16:creationId xmlns:a16="http://schemas.microsoft.com/office/drawing/2014/main" id="{B86BC6D9-2CE0-4543-B0FE-043F3BF3467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741" b="97778" l="0" r="97778">
                        <a14:foregroundMark x1="46222" y1="8889" x2="52000" y2="10370"/>
                        <a14:foregroundMark x1="47111" y1="4074" x2="48444" y2="1852"/>
                        <a14:foregroundMark x1="12444" y1="25556" x2="10222" y2="25185"/>
                        <a14:foregroundMark x1="7556" y1="31111" x2="3111" y2="23704"/>
                        <a14:foregroundMark x1="6667" y1="26296" x2="6667" y2="26296"/>
                        <a14:foregroundMark x1="86667" y1="24815" x2="92444" y2="28519"/>
                        <a14:foregroundMark x1="97333" y1="24444" x2="98222" y2="24074"/>
                        <a14:foregroundMark x1="44889" y1="90000" x2="49333" y2="97778"/>
                        <a14:foregroundMark x1="96889" y1="74074" x2="96889" y2="74074"/>
                        <a14:foregroundMark x1="1778" y1="73704" x2="1778" y2="73704"/>
                        <a14:foregroundMark x1="48889" y1="45926" x2="48889" y2="45926"/>
                        <a14:foregroundMark x1="45333" y1="49630" x2="45333" y2="49630"/>
                        <a14:foregroundMark x1="444" y1="25556" x2="444" y2="25556"/>
                        <a14:foregroundMark x1="48889" y1="741" x2="48889" y2="741"/>
                        <a14:foregroundMark x1="97333" y1="24444" x2="97333" y2="24444"/>
                      </a14:backgroundRemoval>
                    </a14:imgEffect>
                  </a14:imgLayer>
                </a14:imgProps>
              </a:ext>
              <a:ext uri="{28A0092B-C50C-407E-A947-70E740481C1C}">
                <a14:useLocalDpi xmlns:a14="http://schemas.microsoft.com/office/drawing/2010/main" val="0"/>
              </a:ext>
            </a:extLst>
          </a:blip>
          <a:srcRect/>
          <a:stretch>
            <a:fillRect/>
          </a:stretch>
        </p:blipFill>
        <p:spPr bwMode="auto">
          <a:xfrm>
            <a:off x="781299" y="857250"/>
            <a:ext cx="1690788" cy="20289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D Program - Admissions - VS International College - Study Info Nepal">
            <a:extLst>
              <a:ext uri="{FF2B5EF4-FFF2-40B4-BE49-F238E27FC236}">
                <a16:creationId xmlns:a16="http://schemas.microsoft.com/office/drawing/2014/main" id="{33BA3462-387E-4053-95B1-9B49CB8A2B64}"/>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799" b="64029" l="10000" r="90000">
                        <a14:foregroundMark x1="36333" y1="10791" x2="45000" y2="29856"/>
                        <a14:foregroundMark x1="45000" y1="29856" x2="62667" y2="32734"/>
                        <a14:foregroundMark x1="62667" y1="32734" x2="66667" y2="14748"/>
                        <a14:foregroundMark x1="66667" y1="14748" x2="50000" y2="2878"/>
                        <a14:foregroundMark x1="50000" y1="2878" x2="33000" y2="2878"/>
                        <a14:foregroundMark x1="33000" y1="2878" x2="50000" y2="3957"/>
                        <a14:foregroundMark x1="50000" y1="3957" x2="67667" y2="2878"/>
                        <a14:foregroundMark x1="67667" y1="2878" x2="67667" y2="2878"/>
                        <a14:foregroundMark x1="65667" y1="10072" x2="65667" y2="10432"/>
                        <a14:foregroundMark x1="54333" y1="24460" x2="40333" y2="39928"/>
                        <a14:foregroundMark x1="40333" y1="39928" x2="32333" y2="23381"/>
                        <a14:foregroundMark x1="32333" y1="23381" x2="31667" y2="18705"/>
                        <a14:foregroundMark x1="46000" y1="37770" x2="62333" y2="37410"/>
                        <a14:foregroundMark x1="49000" y1="38129" x2="59667" y2="38489"/>
                        <a14:foregroundMark x1="54000" y1="41007" x2="37667" y2="31295"/>
                        <a14:foregroundMark x1="37667" y1="31295" x2="57000" y2="38129"/>
                        <a14:foregroundMark x1="57000" y1="38129" x2="45333" y2="49640"/>
                        <a14:foregroundMark x1="47000" y1="31655" x2="40667" y2="51079"/>
                        <a14:foregroundMark x1="40667" y1="51079" x2="56000" y2="43525"/>
                        <a14:foregroundMark x1="56000" y1="43525" x2="45667" y2="30935"/>
                        <a14:foregroundMark x1="57333" y1="44604" x2="52667" y2="51799"/>
                        <a14:foregroundMark x1="55000" y1="46403" x2="58333" y2="46043"/>
                        <a14:foregroundMark x1="50333" y1="51079" x2="54667" y2="46763"/>
                        <a14:foregroundMark x1="31000" y1="2158" x2="61333" y2="2158"/>
                        <a14:foregroundMark x1="49000" y1="64029" x2="57333" y2="59353"/>
                        <a14:foregroundMark x1="48000" y1="62950" x2="48333" y2="61871"/>
                      </a14:backgroundRemoval>
                    </a14:imgEffect>
                    <a14:imgEffect>
                      <a14:sharpenSoften amount="50000"/>
                    </a14:imgEffect>
                  </a14:imgLayer>
                </a14:imgProps>
              </a:ext>
              <a:ext uri="{28A0092B-C50C-407E-A947-70E740481C1C}">
                <a14:useLocalDpi xmlns:a14="http://schemas.microsoft.com/office/drawing/2010/main" val="0"/>
              </a:ext>
            </a:extLst>
          </a:blip>
          <a:srcRect b="30972"/>
          <a:stretch/>
        </p:blipFill>
        <p:spPr bwMode="auto">
          <a:xfrm>
            <a:off x="9599644" y="1048448"/>
            <a:ext cx="2574108" cy="16465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1AD199B-6795-4035-95CD-91BEC1A3D6BC}"/>
              </a:ext>
            </a:extLst>
          </p:cNvPr>
          <p:cNvSpPr txBox="1"/>
          <p:nvPr/>
        </p:nvSpPr>
        <p:spPr>
          <a:xfrm>
            <a:off x="3450141" y="1822196"/>
            <a:ext cx="5171449" cy="1428789"/>
          </a:xfrm>
          <a:prstGeom prst="rect">
            <a:avLst/>
          </a:prstGeom>
          <a:noFill/>
        </p:spPr>
        <p:txBody>
          <a:bodyPr wrap="square" rtlCol="0">
            <a:spAutoFit/>
          </a:bodyPr>
          <a:lstStyle/>
          <a:p>
            <a:pPr algn="ctr">
              <a:lnSpc>
                <a:spcPct val="150000"/>
              </a:lnSpc>
            </a:pPr>
            <a:r>
              <a:rPr lang="en-US" sz="2000" b="1" i="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 Project Proposal </a:t>
            </a:r>
          </a:p>
          <a:p>
            <a:pPr algn="ctr">
              <a:lnSpc>
                <a:spcPct val="150000"/>
              </a:lnSpc>
            </a:pPr>
            <a:r>
              <a:rPr lang="en-US" sz="2000" b="1" dirty="0">
                <a:latin typeface="Times New Roman" panose="02020603050405020304" pitchFamily="18" charset="0"/>
                <a:cs typeface="Times New Roman" panose="02020603050405020304" pitchFamily="18" charset="0"/>
              </a:rPr>
              <a:t>   on</a:t>
            </a:r>
          </a:p>
          <a:p>
            <a:pPr algn="ctr">
              <a:lnSpc>
                <a:spcPct val="150000"/>
              </a:lnSpc>
            </a:pPr>
            <a:r>
              <a:rPr lang="en-US" sz="2000" b="1" dirty="0">
                <a:latin typeface="Times New Roman" panose="02020603050405020304" pitchFamily="18" charset="0"/>
                <a:cs typeface="Times New Roman" panose="02020603050405020304" pitchFamily="18" charset="0"/>
              </a:rPr>
              <a:t>     “</a:t>
            </a:r>
            <a:r>
              <a:rPr lang="en-US" sz="2000" b="1" i="0" u="none" strike="noStrike" baseline="0" dirty="0">
                <a:solidFill>
                  <a:srgbClr val="000000"/>
                </a:solidFill>
                <a:latin typeface="Times New Roman" panose="02020603050405020304" pitchFamily="18" charset="0"/>
              </a:rPr>
              <a:t>Second Hand </a:t>
            </a:r>
            <a:r>
              <a:rPr lang="en-US" sz="2000" b="1" dirty="0">
                <a:solidFill>
                  <a:srgbClr val="000000"/>
                </a:solidFill>
                <a:latin typeface="Times New Roman" panose="02020603050405020304" pitchFamily="18" charset="0"/>
              </a:rPr>
              <a:t>B</a:t>
            </a:r>
            <a:r>
              <a:rPr lang="en-US" sz="2000" b="1" i="0" u="none" strike="noStrike" baseline="0" dirty="0">
                <a:solidFill>
                  <a:srgbClr val="000000"/>
                </a:solidFill>
                <a:latin typeface="Times New Roman" panose="02020603050405020304" pitchFamily="18" charset="0"/>
              </a:rPr>
              <a:t>uying and Selling </a:t>
            </a:r>
            <a:r>
              <a:rPr lang="en-US" sz="2000" b="1" dirty="0">
                <a:latin typeface="Times New Roman" panose="02020603050405020304" pitchFamily="18" charset="0"/>
                <a:cs typeface="Times New Roman" panose="02020603050405020304" pitchFamily="18" charset="0"/>
              </a:rPr>
              <a:t>”</a:t>
            </a:r>
            <a:endParaRPr lang="en-GB" sz="2000" dirty="0"/>
          </a:p>
        </p:txBody>
      </p:sp>
      <p:sp>
        <p:nvSpPr>
          <p:cNvPr id="5" name="TextBox 4">
            <a:extLst>
              <a:ext uri="{FF2B5EF4-FFF2-40B4-BE49-F238E27FC236}">
                <a16:creationId xmlns:a16="http://schemas.microsoft.com/office/drawing/2014/main" id="{57B96081-298F-4536-BEA1-AF33A2ED913C}"/>
              </a:ext>
            </a:extLst>
          </p:cNvPr>
          <p:cNvSpPr txBox="1"/>
          <p:nvPr/>
        </p:nvSpPr>
        <p:spPr>
          <a:xfrm>
            <a:off x="669004" y="3971805"/>
            <a:ext cx="2531394" cy="861774"/>
          </a:xfrm>
          <a:prstGeom prst="rect">
            <a:avLst/>
          </a:prstGeom>
          <a:noFill/>
        </p:spPr>
        <p:txBody>
          <a:bodyPr wrap="square" rtlCol="0">
            <a:spAutoFit/>
          </a:bodyPr>
          <a:lstStyle/>
          <a:p>
            <a:r>
              <a:rPr lang="en-US" sz="3200" b="1" i="1" dirty="0">
                <a:latin typeface="Times New Roman" panose="02020603050405020304" pitchFamily="18" charset="0"/>
                <a:cs typeface="Times New Roman" panose="02020603050405020304" pitchFamily="18" charset="0"/>
              </a:rPr>
              <a:t>Presented by:</a:t>
            </a:r>
          </a:p>
          <a:p>
            <a:endParaRPr lang="en-GB" dirty="0"/>
          </a:p>
        </p:txBody>
      </p:sp>
      <p:sp>
        <p:nvSpPr>
          <p:cNvPr id="6" name="TextBox 5">
            <a:extLst>
              <a:ext uri="{FF2B5EF4-FFF2-40B4-BE49-F238E27FC236}">
                <a16:creationId xmlns:a16="http://schemas.microsoft.com/office/drawing/2014/main" id="{25E07D74-E8F8-4E73-B4A8-545A9BA28B8C}"/>
              </a:ext>
            </a:extLst>
          </p:cNvPr>
          <p:cNvSpPr txBox="1"/>
          <p:nvPr/>
        </p:nvSpPr>
        <p:spPr>
          <a:xfrm>
            <a:off x="1004185" y="5074508"/>
            <a:ext cx="3792354" cy="1200329"/>
          </a:xfrm>
          <a:prstGeom prst="rect">
            <a:avLst/>
          </a:prstGeom>
          <a:noFill/>
        </p:spPr>
        <p:txBody>
          <a:bodyPr wrap="square" rtlCol="0">
            <a:spAutoFit/>
          </a:bodyPr>
          <a:lstStyle/>
          <a:p>
            <a:pPr algn="ctr"/>
            <a:r>
              <a:rPr lang="en-US" sz="1800" b="1" i="1" dirty="0">
                <a:latin typeface="Times New Roman" panose="02020603050405020304" pitchFamily="18" charset="0"/>
                <a:cs typeface="Times New Roman" panose="02020603050405020304" pitchFamily="18" charset="0"/>
              </a:rPr>
              <a:t>Mohammad Umar Akhtar                    </a:t>
            </a:r>
          </a:p>
          <a:p>
            <a:pPr algn="ctr"/>
            <a:r>
              <a:rPr lang="en-US" sz="1800" b="1" i="1" dirty="0">
                <a:latin typeface="Times New Roman" panose="02020603050405020304" pitchFamily="18" charset="0"/>
                <a:cs typeface="Times New Roman" panose="02020603050405020304" pitchFamily="18" charset="0"/>
              </a:rPr>
              <a:t>Yubraj Ghimire Khatri </a:t>
            </a:r>
            <a:endParaRPr lang="en-US" sz="1800" i="1" dirty="0">
              <a:latin typeface="Times New Roman" panose="02020603050405020304" pitchFamily="18" charset="0"/>
              <a:ea typeface="Calibri" panose="020F0502020204030204" pitchFamily="34" charset="0"/>
              <a:cs typeface="Times New Roman" panose="02020603050405020304" pitchFamily="18" charset="0"/>
            </a:endParaRPr>
          </a:p>
          <a:p>
            <a:r>
              <a:rPr lang="en-US" sz="1800" i="1" dirty="0">
                <a:latin typeface="Times New Roman" panose="02020603050405020304" pitchFamily="18" charset="0"/>
                <a:ea typeface="Calibri" panose="020F0502020204030204" pitchFamily="34" charset="0"/>
                <a:cs typeface="Times New Roman" panose="02020603050405020304" pitchFamily="18" charset="0"/>
              </a:rPr>
              <a:t>                     BCA VI Semester</a:t>
            </a:r>
          </a:p>
          <a:p>
            <a:endParaRPr lang="en-GB"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34029"/>
            <a:ext cx="6583680" cy="636772"/>
          </a:xfrm>
        </p:spPr>
        <p:txBody>
          <a:bodyPr/>
          <a:lstStyle/>
          <a:p>
            <a:r>
              <a:rPr lang="en-US"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133508"/>
            <a:ext cx="6583680" cy="4109988"/>
          </a:xfrm>
        </p:spPr>
        <p:txBody>
          <a:bodyPr>
            <a:normAutofit/>
          </a:bodyPr>
          <a:lstStyle/>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Introduction</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Problem Statement</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Objectives</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Methodology </a:t>
            </a:r>
          </a:p>
          <a:p>
            <a:pPr marL="342900" indent="-342900">
              <a:buFont typeface="+mj-lt"/>
              <a:buAutoNum type="alphaLcParenR"/>
            </a:pPr>
            <a:r>
              <a:rPr lang="en-US" sz="1600" dirty="0">
                <a:latin typeface="Times New Roman" panose="02020603050405020304" pitchFamily="18" charset="0"/>
                <a:cs typeface="Times New Roman" panose="02020603050405020304" pitchFamily="18" charset="0"/>
              </a:rPr>
              <a:t>Requirement Identification</a:t>
            </a:r>
          </a:p>
          <a:p>
            <a:pPr marL="342900" indent="-342900">
              <a:buFont typeface="+mj-lt"/>
              <a:buAutoNum type="alphaLcParenR"/>
            </a:pPr>
            <a:r>
              <a:rPr lang="en-US" sz="1600" dirty="0">
                <a:latin typeface="Times New Roman" panose="02020603050405020304" pitchFamily="18" charset="0"/>
                <a:cs typeface="Times New Roman" panose="02020603050405020304" pitchFamily="18" charset="0"/>
              </a:rPr>
              <a:t>Process Model</a:t>
            </a:r>
          </a:p>
          <a:p>
            <a:pPr marL="342900" indent="-342900">
              <a:buFont typeface="+mj-lt"/>
              <a:buAutoNum type="alphaLcParenR"/>
            </a:pPr>
            <a:r>
              <a:rPr lang="en-US" sz="1600" dirty="0">
                <a:latin typeface="Times New Roman" panose="02020603050405020304" pitchFamily="18" charset="0"/>
                <a:cs typeface="Times New Roman" panose="02020603050405020304" pitchFamily="18" charset="0"/>
              </a:rPr>
              <a:t>Feasibility Study</a:t>
            </a:r>
          </a:p>
          <a:p>
            <a:pPr marL="342900" indent="-342900">
              <a:buFont typeface="+mj-lt"/>
              <a:buAutoNum type="alphaLcParenR"/>
            </a:pPr>
            <a:r>
              <a:rPr lang="en-US" sz="1600" dirty="0">
                <a:latin typeface="Times New Roman" panose="02020603050405020304" pitchFamily="18" charset="0"/>
                <a:cs typeface="Times New Roman" panose="02020603050405020304" pitchFamily="18" charset="0"/>
              </a:rPr>
              <a:t>High Level design of the system(Working Mechanism, Algorithm)</a:t>
            </a:r>
          </a:p>
          <a:p>
            <a:pPr marL="342900" indent="-342900">
              <a:buFont typeface="+mj-lt"/>
              <a:buAutoNum type="arabicPeriod" startAt="5"/>
            </a:pPr>
            <a:r>
              <a:rPr lang="en-US" sz="1600" dirty="0">
                <a:latin typeface="Times New Roman" panose="02020603050405020304" pitchFamily="18" charset="0"/>
                <a:cs typeface="Times New Roman" panose="02020603050405020304" pitchFamily="18" charset="0"/>
              </a:rPr>
              <a:t>Gantt Chart</a:t>
            </a:r>
          </a:p>
          <a:p>
            <a:pPr marL="342900" indent="-342900">
              <a:buFont typeface="+mj-lt"/>
              <a:buAutoNum type="arabicPeriod" startAt="5"/>
            </a:pPr>
            <a:r>
              <a:rPr lang="en-US" sz="1600" dirty="0">
                <a:latin typeface="Times New Roman" panose="02020603050405020304" pitchFamily="18" charset="0"/>
                <a:cs typeface="Times New Roman" panose="02020603050405020304" pitchFamily="18" charset="0"/>
              </a:rPr>
              <a:t>Expected Outcome</a:t>
            </a:r>
          </a:p>
          <a:p>
            <a:pPr marL="342900" indent="-342900">
              <a:buFont typeface="+mj-lt"/>
              <a:buAutoNum type="arabicPeriod" startAt="5"/>
            </a:pPr>
            <a:r>
              <a:rPr lang="en-US" sz="1600" dirty="0">
                <a:latin typeface="Times New Roman" panose="02020603050405020304" pitchFamily="18" charset="0"/>
                <a:cs typeface="Times New Roman" panose="02020603050405020304" pitchFamily="18" charset="0"/>
              </a:rPr>
              <a:t>References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4017057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02441" y="1570892"/>
            <a:ext cx="5723586" cy="574672"/>
          </a:xfrm>
        </p:spPr>
        <p:txBody>
          <a:bodyPr/>
          <a:lstStyle/>
          <a:p>
            <a:pPr algn="ctr"/>
            <a:r>
              <a:rPr lang="en-US" dirty="0">
                <a:latin typeface="Times New Roman" panose="02020603050405020304" pitchFamily="18" charset="0"/>
                <a:cs typeface="Times New Roman" panose="02020603050405020304" pitchFamily="18" charset="0"/>
              </a:rPr>
              <a:t>INTRODUCTION</a:t>
            </a:r>
          </a:p>
        </p:txBody>
      </p:sp>
      <p:pic>
        <p:nvPicPr>
          <p:cNvPr id="7" name="Picture Placeholder 6" descr="A person standing in front of a whiteboard">
            <a:extLst>
              <a:ext uri="{FF2B5EF4-FFF2-40B4-BE49-F238E27FC236}">
                <a16:creationId xmlns:a16="http://schemas.microsoft.com/office/drawing/2014/main" id="{DD186EAB-37C7-E7E6-AE8D-F077D02804F9}"/>
              </a:ext>
            </a:extLst>
          </p:cNvPr>
          <p:cNvPicPr>
            <a:picLocks noGrp="1" noChangeAspect="1"/>
          </p:cNvPicPr>
          <p:nvPr>
            <p:ph type="pic" sz="quarter" idx="11"/>
          </p:nvPr>
        </p:nvPicPr>
        <p:blipFill>
          <a:blip r:embed="rId3">
            <a:duotone>
              <a:prstClr val="black"/>
              <a:schemeClr val="accent1">
                <a:tint val="45000"/>
                <a:satMod val="400000"/>
              </a:schemeClr>
            </a:duotone>
          </a:blip>
          <a:srcRect l="27208" r="27208"/>
          <a:stretch/>
        </p:blipFill>
        <p:spPr>
          <a:xfrm>
            <a:off x="443345" y="0"/>
            <a:ext cx="4344695" cy="6359525"/>
          </a:xfrm>
        </p:spPr>
      </p:pic>
      <p:sp>
        <p:nvSpPr>
          <p:cNvPr id="3" name="TextBox 2">
            <a:extLst>
              <a:ext uri="{FF2B5EF4-FFF2-40B4-BE49-F238E27FC236}">
                <a16:creationId xmlns:a16="http://schemas.microsoft.com/office/drawing/2014/main" id="{9D3AB4A6-B4DE-4A1C-858C-319CA606BF87}"/>
              </a:ext>
            </a:extLst>
          </p:cNvPr>
          <p:cNvSpPr txBox="1"/>
          <p:nvPr/>
        </p:nvSpPr>
        <p:spPr>
          <a:xfrm>
            <a:off x="5423308" y="2251442"/>
            <a:ext cx="5828624" cy="33726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Second hand buying and selling products is a web-based application that is designed to sell and buy goods or materials which have been used or even new products.</a:t>
            </a:r>
          </a:p>
          <a:p>
            <a:pPr marL="285750" indent="-28575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 This project aims to supply goods and materials for those who seek to buy desired products at a suitable and reasonable price.</a:t>
            </a:r>
          </a:p>
          <a:p>
            <a:pPr marL="285750" indent="-28575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 This system has many facilities where users can buy goods that are included in the system category.</a:t>
            </a:r>
            <a:endParaRPr lang="en-GB"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platforms fail to consider users' evolving preferences, resulting in irrelevant content suggestions.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struggle to find desired products swiftly, causing dissatisfaction and wasted time.</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Ineffective personalization leads to disengagement and loss of user interest over time.</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399" y="3808750"/>
            <a:ext cx="5265019" cy="2233233"/>
          </a:xfrm>
        </p:spPr>
        <p:txBody>
          <a:bodyPr>
            <a:normAutofit/>
          </a:bodyPr>
          <a:lstStyle/>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To provide easy and convenient transactions.</a:t>
            </a:r>
            <a:endParaRPr lang="en-US"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To maintain trust and security.</a:t>
            </a:r>
            <a:endParaRPr lang="en-US" sz="2000" dirty="0">
              <a:latin typeface="Times New Roman" panose="02020603050405020304" pitchFamily="18" charset="0"/>
              <a:cs typeface="Times New Roman" panose="02020603050405020304" pitchFamily="18" charset="0"/>
            </a:endParaRPr>
          </a:p>
        </p:txBody>
      </p:sp>
      <p:pic>
        <p:nvPicPr>
          <p:cNvPr id="6" name="Picture Placeholder 5" descr="A person holding a microphone and standing in front of a group of people">
            <a:extLst>
              <a:ext uri="{FF2B5EF4-FFF2-40B4-BE49-F238E27FC236}">
                <a16:creationId xmlns:a16="http://schemas.microsoft.com/office/drawing/2014/main" id="{FECDA901-DD88-89EB-E10E-A2994D0A92DB}"/>
              </a:ext>
            </a:extLst>
          </p:cNvPr>
          <p:cNvPicPr>
            <a:picLocks noGrp="1" noChangeAspect="1"/>
          </p:cNvPicPr>
          <p:nvPr>
            <p:ph type="pic" sz="quarter" idx="11"/>
          </p:nvPr>
        </p:nvPicPr>
        <p:blipFill rotWithShape="1">
          <a:blip r:embed="rId3">
            <a:duotone>
              <a:prstClr val="black"/>
              <a:schemeClr val="accent3">
                <a:tint val="45000"/>
                <a:satMod val="400000"/>
              </a:schemeClr>
            </a:duotone>
          </a:blip>
          <a:srcRect l="27745" r="27745"/>
          <a:stretch/>
        </p:blipFill>
        <p:spPr>
          <a:xfrm>
            <a:off x="7414194" y="410780"/>
            <a:ext cx="4344695" cy="6447220"/>
          </a:xfrm>
        </p:spPr>
      </p:pic>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latin typeface="Times New Roman" panose="02020603050405020304" pitchFamily="18" charset="0"/>
                <a:cs typeface="Times New Roman" panose="02020603050405020304" pitchFamily="18" charset="0"/>
              </a:rPr>
              <a:t>SCOPE</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Security:</a:t>
            </a:r>
            <a:r>
              <a:rPr lang="en-US" dirty="0">
                <a:latin typeface="Times New Roman" panose="02020603050405020304" pitchFamily="18" charset="0"/>
                <a:cs typeface="Times New Roman" panose="02020603050405020304" pitchFamily="18" charset="0"/>
              </a:rPr>
              <a:t> Ensures safe and trustworthy transactions.</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Sustainability:</a:t>
            </a:r>
            <a:r>
              <a:rPr lang="en-US" dirty="0">
                <a:latin typeface="Times New Roman" panose="02020603050405020304" pitchFamily="18" charset="0"/>
                <a:cs typeface="Times New Roman" panose="02020603050405020304" pitchFamily="18" charset="0"/>
              </a:rPr>
              <a:t> Promotes reusing items to reduce waste and encourage eco-friendly practices.</a:t>
            </a: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FD9421-9DCA-4162-8A99-8705A6C3456C}"/>
              </a:ext>
            </a:extLst>
          </p:cNvPr>
          <p:cNvSpPr>
            <a:spLocks noGrp="1"/>
          </p:cNvSpPr>
          <p:nvPr>
            <p:ph type="title"/>
          </p:nvPr>
        </p:nvSpPr>
        <p:spPr/>
        <p:txBody>
          <a:bodyPr/>
          <a:lstStyle/>
          <a:p>
            <a:r>
              <a:rPr lang="en-US" dirty="0"/>
              <a:t>Process model</a:t>
            </a:r>
            <a:endParaRPr lang="en-GB" dirty="0"/>
          </a:p>
        </p:txBody>
      </p:sp>
      <p:sp>
        <p:nvSpPr>
          <p:cNvPr id="7" name="Text Placeholder 6">
            <a:extLst>
              <a:ext uri="{FF2B5EF4-FFF2-40B4-BE49-F238E27FC236}">
                <a16:creationId xmlns:a16="http://schemas.microsoft.com/office/drawing/2014/main" id="{D868DA7B-6762-4D87-A7BE-756710505ABD}"/>
              </a:ext>
            </a:extLst>
          </p:cNvPr>
          <p:cNvSpPr>
            <a:spLocks noGrp="1"/>
          </p:cNvSpPr>
          <p:nvPr>
            <p:ph type="body" sz="quarter" idx="13"/>
          </p:nvPr>
        </p:nvSpPr>
        <p:spPr>
          <a:xfrm>
            <a:off x="749148" y="2499553"/>
            <a:ext cx="4770304" cy="2669700"/>
          </a:xfrm>
        </p:spPr>
        <p:txBody>
          <a:bodyPr/>
          <a:lstStyle/>
          <a:p>
            <a:pPr algn="ctr"/>
            <a:r>
              <a:rPr lang="en-US" b="0" i="0" dirty="0">
                <a:effectLst/>
                <a:latin typeface="Arial" panose="020B0604020202020204" pitchFamily="34" charset="0"/>
              </a:rPr>
              <a:t>Agile methodology is a </a:t>
            </a:r>
            <a:r>
              <a:rPr lang="en-US" b="1" i="0" dirty="0">
                <a:effectLst/>
                <a:latin typeface="Arial" panose="020B0604020202020204" pitchFamily="34" charset="0"/>
              </a:rPr>
              <a:t>flexible and iterative approach</a:t>
            </a:r>
            <a:r>
              <a:rPr lang="en-US" b="0" i="0" dirty="0">
                <a:effectLst/>
                <a:latin typeface="Arial" panose="020B0604020202020204" pitchFamily="34" charset="0"/>
              </a:rPr>
              <a:t> to project management and software development. It emphasizes breaking projects into smaller, manageable phases called iterations or sprints. This allows teams to adapt to changes quickly, deliver value incrementally, and continuously improve based on feedback.</a:t>
            </a:r>
            <a:endParaRPr lang="en-GB" dirty="0"/>
          </a:p>
        </p:txBody>
      </p:sp>
      <p:pic>
        <p:nvPicPr>
          <p:cNvPr id="9" name="Content Placeholder 8">
            <a:extLst>
              <a:ext uri="{FF2B5EF4-FFF2-40B4-BE49-F238E27FC236}">
                <a16:creationId xmlns:a16="http://schemas.microsoft.com/office/drawing/2014/main" id="{ADE9183B-4348-4945-863A-8A7F5F318ED1}"/>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backgroundRemoval t="3521" b="91761" l="10000" r="90000">
                        <a14:foregroundMark x1="28320" y1="90211" x2="38555" y2="88944"/>
                        <a14:foregroundMark x1="38555" y1="88944" x2="50039" y2="91761"/>
                        <a14:foregroundMark x1="56992" y1="88662" x2="72617" y2="87394"/>
                        <a14:foregroundMark x1="66172" y1="49225" x2="66172" y2="49225"/>
                        <a14:foregroundMark x1="66172" y1="49225" x2="61406" y2="33944"/>
                        <a14:foregroundMark x1="61406" y1="33944" x2="52305" y2="29085"/>
                        <a14:foregroundMark x1="52305" y1="29085" x2="42852" y2="31197"/>
                        <a14:foregroundMark x1="42852" y1="31197" x2="36641" y2="42465"/>
                        <a14:foregroundMark x1="36641" y1="42465" x2="33906" y2="59014"/>
                        <a14:foregroundMark x1="33906" y1="59014" x2="36914" y2="72465"/>
                        <a14:foregroundMark x1="36914" y1="72465" x2="41680" y2="83028"/>
                        <a14:foregroundMark x1="41680" y1="83028" x2="41680" y2="83028"/>
                        <a14:foregroundMark x1="42227" y1="6972" x2="52500" y2="6620"/>
                        <a14:foregroundMark x1="52500" y1="6620" x2="58711" y2="6620"/>
                        <a14:foregroundMark x1="42734" y1="6972" x2="56250" y2="6056"/>
                        <a14:foregroundMark x1="56250" y1="6056" x2="50664" y2="15423"/>
                        <a14:foregroundMark x1="50664" y1="15423" x2="59219" y2="14718"/>
                        <a14:foregroundMark x1="59219" y1="14718" x2="59570" y2="14437"/>
                        <a14:foregroundMark x1="42734" y1="8803" x2="56172" y2="8310"/>
                        <a14:foregroundMark x1="56172" y1="8310" x2="39922" y2="9155"/>
                        <a14:foregroundMark x1="39922" y1="9155" x2="52656" y2="13803"/>
                        <a14:foregroundMark x1="52656" y1="13803" x2="55586" y2="12887"/>
                        <a14:foregroundMark x1="41875" y1="8803" x2="38555" y2="14789"/>
                        <a14:foregroundMark x1="46719" y1="11972" x2="58242" y2="13732"/>
                        <a14:foregroundMark x1="58242" y1="13732" x2="60781" y2="15423"/>
                        <a14:foregroundMark x1="60781" y1="15423" x2="59414" y2="4437"/>
                        <a14:foregroundMark x1="39961" y1="14155" x2="50586" y2="15282"/>
                        <a14:foregroundMark x1="50586" y1="15282" x2="35117" y2="17254"/>
                        <a14:foregroundMark x1="41680" y1="6972" x2="42227" y2="3521"/>
                        <a14:foregroundMark x1="41523" y1="4437" x2="57148" y2="5704"/>
                        <a14:foregroundMark x1="45352" y1="6620" x2="55781" y2="4155"/>
                        <a14:foregroundMark x1="55781" y1="4155" x2="60781" y2="5986"/>
                        <a14:foregroundMark x1="46211" y1="5704" x2="55078" y2="3803"/>
                        <a14:foregroundMark x1="57500" y1="82676" x2="67031" y2="68592"/>
                        <a14:foregroundMark x1="35117" y1="87676" x2="61328" y2="84930"/>
                        <a14:foregroundMark x1="61328" y1="84930" x2="70703" y2="86127"/>
                      </a14:backgroundRemoval>
                    </a14:imgEffect>
                  </a14:imgLayer>
                </a14:imgProps>
              </a:ext>
              <a:ext uri="{837473B0-CC2E-450A-ABE3-18F120FF3D39}">
                <a1611:picAttrSrcUrl xmlns:a1611="http://schemas.microsoft.com/office/drawing/2016/11/main" r:id="rId4"/>
              </a:ext>
            </a:extLst>
          </a:blip>
          <a:srcRect/>
          <a:stretch/>
        </p:blipFill>
        <p:spPr>
          <a:xfrm>
            <a:off x="4559290" y="1364981"/>
            <a:ext cx="7632710" cy="4233768"/>
          </a:xfrm>
        </p:spPr>
      </p:pic>
      <p:sp>
        <p:nvSpPr>
          <p:cNvPr id="3" name="Slide Number Placeholder 2">
            <a:extLst>
              <a:ext uri="{FF2B5EF4-FFF2-40B4-BE49-F238E27FC236}">
                <a16:creationId xmlns:a16="http://schemas.microsoft.com/office/drawing/2014/main" id="{3C5CD7CE-95BA-4571-84C3-93F341A06EBF}"/>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257746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dirty="0">
                <a:latin typeface="Times New Roman" panose="02020603050405020304" pitchFamily="18" charset="0"/>
                <a:cs typeface="Times New Roman" panose="02020603050405020304" pitchFamily="18" charset="0"/>
              </a:rPr>
              <a:t>TOOLS FOR THE PROJECT</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1066801" y="3429000"/>
            <a:ext cx="3282950" cy="1873901"/>
          </a:xfrm>
        </p:spPr>
        <p:txBody>
          <a:bodyPr>
            <a:normAutofit fontScale="92500" lnSpcReduction="10000"/>
          </a:bodyPr>
          <a:lstStyle/>
          <a:p>
            <a:pPr>
              <a:lnSpc>
                <a:spcPct val="150000"/>
              </a:lnSpc>
            </a:pPr>
            <a:r>
              <a:rPr lang="en-US" dirty="0">
                <a:latin typeface="Times New Roman" pitchFamily="18" charset="0"/>
                <a:cs typeface="Times New Roman" pitchFamily="18" charset="0"/>
              </a:rPr>
              <a:t>HTML</a:t>
            </a:r>
          </a:p>
          <a:p>
            <a:pPr>
              <a:lnSpc>
                <a:spcPct val="150000"/>
              </a:lnSpc>
            </a:pPr>
            <a:r>
              <a:rPr lang="en-US" dirty="0">
                <a:latin typeface="Times New Roman" pitchFamily="18" charset="0"/>
                <a:cs typeface="Times New Roman" pitchFamily="18" charset="0"/>
              </a:rPr>
              <a:t>CSS</a:t>
            </a:r>
          </a:p>
          <a:p>
            <a:pPr>
              <a:lnSpc>
                <a:spcPct val="150000"/>
              </a:lnSpc>
            </a:pPr>
            <a:r>
              <a:rPr lang="en-US" dirty="0">
                <a:latin typeface="Times New Roman" pitchFamily="18" charset="0"/>
                <a:cs typeface="Times New Roman" pitchFamily="18" charset="0"/>
              </a:rPr>
              <a:t>JavaScript</a:t>
            </a:r>
          </a:p>
          <a:p>
            <a:pPr>
              <a:lnSpc>
                <a:spcPct val="150000"/>
              </a:lnSpc>
            </a:pPr>
            <a:r>
              <a:rPr lang="en-US" dirty="0">
                <a:latin typeface="Times New Roman" pitchFamily="18" charset="0"/>
                <a:cs typeface="Times New Roman" pitchFamily="18" charset="0"/>
              </a:rPr>
              <a:t>BOOTSTRAP</a:t>
            </a:r>
          </a:p>
          <a:p>
            <a:pPr marL="457200" indent="-457200">
              <a:lnSpc>
                <a:spcPct val="150000"/>
              </a:lnSpc>
            </a:pPr>
            <a:endParaRPr lang="en-US" sz="1400" dirty="0">
              <a:latin typeface="Times New Roman" panose="02020603050405020304" pitchFamily="18" charset="0"/>
              <a:cs typeface="Times New Roman" panose="02020603050405020304" pitchFamily="18" charset="0"/>
            </a:endParaRPr>
          </a:p>
        </p:txBody>
      </p:sp>
      <p:pic>
        <p:nvPicPr>
          <p:cNvPr id="10" name="Picture Placeholder 9" descr="A person wearing a blue suit and headphones pointing at a computer">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1888" r="31888"/>
          <a:stretch/>
        </p:blipFill>
        <p:spPr>
          <a:xfrm>
            <a:off x="8989454" y="965393"/>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9" name="Content Placeholder 7">
            <a:extLst>
              <a:ext uri="{FF2B5EF4-FFF2-40B4-BE49-F238E27FC236}">
                <a16:creationId xmlns:a16="http://schemas.microsoft.com/office/drawing/2014/main" id="{B6891D58-0F73-4780-824C-E5E96861C1EE}"/>
              </a:ext>
            </a:extLst>
          </p:cNvPr>
          <p:cNvSpPr txBox="1">
            <a:spLocks/>
          </p:cNvSpPr>
          <p:nvPr/>
        </p:nvSpPr>
        <p:spPr>
          <a:xfrm>
            <a:off x="4264727" y="3429000"/>
            <a:ext cx="3282950" cy="1623645"/>
          </a:xfrm>
          <a:prstGeom prst="rect">
            <a:avLst/>
          </a:prstGeom>
        </p:spPr>
        <p:txBody>
          <a:bodyPr vert="horz" lIns="91440" tIns="0" rIns="91440" bIns="0" rtlCol="0">
            <a:normAutofit fontScale="92500" lnSpcReduction="20000"/>
          </a:bodyPr>
          <a:lstStyle>
            <a:lvl1pPr marL="457200" indent="-457200" algn="l" defTabSz="914400" rtl="0" eaLnBrk="1" latinLnBrk="0" hangingPunct="1">
              <a:lnSpc>
                <a:spcPct val="100000"/>
              </a:lnSpc>
              <a:spcBef>
                <a:spcPts val="1000"/>
              </a:spcBef>
              <a:buFont typeface="+mj-lt"/>
              <a:buAutoNum type="arabicPeriod"/>
              <a:defRPr sz="1800" kern="1200">
                <a:solidFill>
                  <a:schemeClr val="accent6"/>
                </a:solidFill>
                <a:latin typeface="+mn-lt"/>
                <a:ea typeface="+mn-ea"/>
                <a:cs typeface="+mn-cs"/>
              </a:defRPr>
            </a:lvl1pPr>
            <a:lvl2pPr marL="745236" indent="-342900" algn="l" defTabSz="914400" rtl="0" eaLnBrk="1" latinLnBrk="0" hangingPunct="1">
              <a:lnSpc>
                <a:spcPct val="100000"/>
              </a:lnSpc>
              <a:spcBef>
                <a:spcPts val="1000"/>
              </a:spcBef>
              <a:buFont typeface="+mj-lt"/>
              <a:buAutoNum type="alphaLcPeriod"/>
              <a:defRPr sz="1800" kern="1200">
                <a:solidFill>
                  <a:schemeClr val="accent6"/>
                </a:solidFill>
                <a:latin typeface="+mn-lt"/>
                <a:ea typeface="+mn-ea"/>
                <a:cs typeface="+mn-cs"/>
              </a:defRPr>
            </a:lvl2pPr>
            <a:lvl3pPr marL="1202436" indent="-342900" algn="l" defTabSz="914400" rtl="0" eaLnBrk="1" latinLnBrk="0" hangingPunct="1">
              <a:lnSpc>
                <a:spcPct val="100000"/>
              </a:lnSpc>
              <a:spcBef>
                <a:spcPts val="1000"/>
              </a:spcBef>
              <a:buFont typeface="+mj-lt"/>
              <a:buAutoNum type="arabicParenR"/>
              <a:defRPr sz="1800" kern="1200">
                <a:solidFill>
                  <a:schemeClr val="accent6"/>
                </a:solidFill>
                <a:latin typeface="+mn-lt"/>
                <a:ea typeface="+mn-ea"/>
                <a:cs typeface="+mn-cs"/>
              </a:defRPr>
            </a:lvl3pPr>
            <a:lvl4pPr marL="1659636" indent="-342900" algn="l" defTabSz="914400" rtl="0" eaLnBrk="1" latinLnBrk="0" hangingPunct="1">
              <a:lnSpc>
                <a:spcPct val="100000"/>
              </a:lnSpc>
              <a:spcBef>
                <a:spcPts val="1000"/>
              </a:spcBef>
              <a:buFont typeface="+mj-lt"/>
              <a:buAutoNum type="alphaLcParenR"/>
              <a:defRPr sz="1800" kern="1200">
                <a:solidFill>
                  <a:schemeClr val="accent6"/>
                </a:solidFill>
                <a:latin typeface="+mn-lt"/>
                <a:ea typeface="+mn-ea"/>
                <a:cs typeface="+mn-cs"/>
              </a:defRPr>
            </a:lvl4pPr>
            <a:lvl5pPr marL="2057400"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latin typeface="Times New Roman" pitchFamily="18" charset="0"/>
                <a:cs typeface="Times New Roman" pitchFamily="18" charset="0"/>
              </a:rPr>
              <a:t>PHP (Server Side Scripting)</a:t>
            </a:r>
          </a:p>
          <a:p>
            <a:pPr>
              <a:lnSpc>
                <a:spcPct val="150000"/>
              </a:lnSpc>
            </a:pPr>
            <a:r>
              <a:rPr lang="en-US" dirty="0">
                <a:latin typeface="Times New Roman" pitchFamily="18" charset="0"/>
                <a:cs typeface="Times New Roman" pitchFamily="18" charset="0"/>
              </a:rPr>
              <a:t>MYSQL (Database)</a:t>
            </a:r>
          </a:p>
          <a:p>
            <a:pPr>
              <a:lnSpc>
                <a:spcPct val="150000"/>
              </a:lnSpc>
            </a:pPr>
            <a:r>
              <a:rPr lang="en-US" dirty="0">
                <a:latin typeface="Times New Roman" pitchFamily="18" charset="0"/>
                <a:cs typeface="Times New Roman" pitchFamily="18" charset="0"/>
              </a:rPr>
              <a:t>XAMPP (Local Server Solution)</a:t>
            </a:r>
          </a:p>
        </p:txBody>
      </p:sp>
      <p:sp>
        <p:nvSpPr>
          <p:cNvPr id="11" name="Title 2">
            <a:extLst>
              <a:ext uri="{FF2B5EF4-FFF2-40B4-BE49-F238E27FC236}">
                <a16:creationId xmlns:a16="http://schemas.microsoft.com/office/drawing/2014/main" id="{76BD2625-68FF-41EF-BBBE-EC8ACFBFA964}"/>
              </a:ext>
            </a:extLst>
          </p:cNvPr>
          <p:cNvSpPr txBox="1">
            <a:spLocks/>
          </p:cNvSpPr>
          <p:nvPr/>
        </p:nvSpPr>
        <p:spPr>
          <a:xfrm>
            <a:off x="1066801" y="2415349"/>
            <a:ext cx="2533048" cy="661126"/>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algn="ctr"/>
            <a:r>
              <a:rPr lang="en-US" sz="2000" u="sng" dirty="0">
                <a:latin typeface="Times New Roman" panose="02020603050405020304" pitchFamily="18" charset="0"/>
                <a:cs typeface="Times New Roman" panose="02020603050405020304" pitchFamily="18" charset="0"/>
              </a:rPr>
              <a:t>Frontend Tools</a:t>
            </a:r>
          </a:p>
        </p:txBody>
      </p:sp>
      <p:sp>
        <p:nvSpPr>
          <p:cNvPr id="12" name="Title 2">
            <a:extLst>
              <a:ext uri="{FF2B5EF4-FFF2-40B4-BE49-F238E27FC236}">
                <a16:creationId xmlns:a16="http://schemas.microsoft.com/office/drawing/2014/main" id="{7B9BD75F-EC34-4118-8E0E-9E23333E5449}"/>
              </a:ext>
            </a:extLst>
          </p:cNvPr>
          <p:cNvSpPr txBox="1">
            <a:spLocks/>
          </p:cNvSpPr>
          <p:nvPr/>
        </p:nvSpPr>
        <p:spPr>
          <a:xfrm>
            <a:off x="4349751" y="2415349"/>
            <a:ext cx="2533048" cy="661126"/>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algn="ctr"/>
            <a:r>
              <a:rPr lang="en-US" sz="2000" u="sng" dirty="0">
                <a:latin typeface="Times New Roman" panose="02020603050405020304" pitchFamily="18" charset="0"/>
                <a:cs typeface="Times New Roman" panose="02020603050405020304" pitchFamily="18" charset="0"/>
              </a:rPr>
              <a:t>BACKEND</a:t>
            </a:r>
          </a:p>
          <a:p>
            <a:pPr algn="ctr"/>
            <a:r>
              <a:rPr lang="en-US" sz="2000" u="sng" dirty="0">
                <a:latin typeface="Times New Roman" panose="02020603050405020304" pitchFamily="18" charset="0"/>
                <a:cs typeface="Times New Roman" panose="02020603050405020304" pitchFamily="18" charset="0"/>
              </a:rPr>
              <a:t> Tools</a:t>
            </a:r>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sz="3600" b="1" dirty="0">
                <a:latin typeface="Times New Roman" panose="02020603050405020304" pitchFamily="18" charset="0"/>
                <a:cs typeface="Times New Roman" panose="02020603050405020304" pitchFamily="18" charset="0"/>
              </a:rPr>
              <a:t>Functional Requirement</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303028"/>
            <a:ext cx="6756935" cy="3720337"/>
          </a:xfrm>
        </p:spPr>
        <p:txBody>
          <a:bodyPr>
            <a:normAutofit/>
          </a:bodyPr>
          <a:lstStyle/>
          <a:p>
            <a:pPr marL="342900" marR="0" lvl="0" indent="-342900">
              <a:lnSpc>
                <a:spcPct val="150000"/>
              </a:lnSpc>
              <a:spcBef>
                <a:spcPts val="610"/>
              </a:spcBef>
              <a:spcAft>
                <a:spcPts val="0"/>
              </a:spcAft>
              <a:buFont typeface="+mj-lt"/>
              <a:buAutoNum type="arabicPeriod"/>
            </a:pPr>
            <a:r>
              <a:rPr lang="en-GB" sz="1600" b="1" spc="0" dirty="0">
                <a:effectLst/>
                <a:latin typeface="Times New Roman" panose="02020603050405020304" pitchFamily="18" charset="0"/>
                <a:ea typeface="Times New Roman" panose="02020603050405020304" pitchFamily="18" charset="0"/>
              </a:rPr>
              <a:t>User Registration &amp; Login</a:t>
            </a:r>
            <a:r>
              <a:rPr lang="en-GB" sz="1600" spc="0" dirty="0">
                <a:effectLst/>
                <a:latin typeface="Times New Roman" panose="02020603050405020304" pitchFamily="18" charset="0"/>
                <a:ea typeface="Times New Roman" panose="02020603050405020304" pitchFamily="18" charset="0"/>
              </a:rPr>
              <a:t> – Account creation, login, and profile management for buyers and sellers.</a:t>
            </a:r>
          </a:p>
          <a:p>
            <a:pPr marL="342900" marR="0" lvl="0" indent="-342900">
              <a:lnSpc>
                <a:spcPct val="150000"/>
              </a:lnSpc>
              <a:spcBef>
                <a:spcPts val="610"/>
              </a:spcBef>
              <a:spcAft>
                <a:spcPts val="0"/>
              </a:spcAft>
              <a:buFont typeface="+mj-lt"/>
              <a:buAutoNum type="arabicPeriod"/>
            </a:pPr>
            <a:r>
              <a:rPr lang="en-GB" sz="1600" b="1" spc="0" dirty="0">
                <a:effectLst/>
                <a:latin typeface="Times New Roman" panose="02020603050405020304" pitchFamily="18" charset="0"/>
                <a:ea typeface="Times New Roman" panose="02020603050405020304" pitchFamily="18" charset="0"/>
              </a:rPr>
              <a:t>Product Listing</a:t>
            </a:r>
            <a:r>
              <a:rPr lang="en-GB" sz="1600" spc="0" dirty="0">
                <a:effectLst/>
                <a:latin typeface="Times New Roman" panose="02020603050405020304" pitchFamily="18" charset="0"/>
                <a:ea typeface="Times New Roman" panose="02020603050405020304" pitchFamily="18" charset="0"/>
              </a:rPr>
              <a:t> – Sellers can list items with descriptions, images, and prices.</a:t>
            </a:r>
          </a:p>
          <a:p>
            <a:pPr marL="342900" marR="0" lvl="0" indent="-342900">
              <a:lnSpc>
                <a:spcPct val="150000"/>
              </a:lnSpc>
              <a:spcBef>
                <a:spcPts val="610"/>
              </a:spcBef>
              <a:spcAft>
                <a:spcPts val="0"/>
              </a:spcAft>
              <a:buFont typeface="+mj-lt"/>
              <a:buAutoNum type="arabicPeriod"/>
            </a:pPr>
            <a:r>
              <a:rPr lang="en-GB" sz="1600" b="1" spc="0" dirty="0">
                <a:effectLst/>
                <a:latin typeface="Times New Roman" panose="02020603050405020304" pitchFamily="18" charset="0"/>
                <a:ea typeface="Times New Roman" panose="02020603050405020304" pitchFamily="18" charset="0"/>
              </a:rPr>
              <a:t>Search &amp; Filter</a:t>
            </a:r>
            <a:r>
              <a:rPr lang="en-GB" sz="1600" spc="0" dirty="0">
                <a:effectLst/>
                <a:latin typeface="Times New Roman" panose="02020603050405020304" pitchFamily="18" charset="0"/>
                <a:ea typeface="Times New Roman" panose="02020603050405020304" pitchFamily="18" charset="0"/>
              </a:rPr>
              <a:t> – Buyers can search and filter items by category, price, and condition.</a:t>
            </a:r>
          </a:p>
          <a:p>
            <a:pPr marL="342900" marR="0" lvl="0" indent="-342900">
              <a:lnSpc>
                <a:spcPct val="150000"/>
              </a:lnSpc>
              <a:spcBef>
                <a:spcPts val="610"/>
              </a:spcBef>
              <a:spcAft>
                <a:spcPts val="0"/>
              </a:spcAft>
              <a:buFont typeface="+mj-lt"/>
              <a:buAutoNum type="arabicPeriod"/>
            </a:pPr>
            <a:r>
              <a:rPr lang="en-GB" sz="1600" b="1" spc="0" dirty="0">
                <a:effectLst/>
                <a:latin typeface="Times New Roman" panose="02020603050405020304" pitchFamily="18" charset="0"/>
                <a:ea typeface="Times New Roman" panose="02020603050405020304" pitchFamily="18" charset="0"/>
              </a:rPr>
              <a:t>Transaction Management</a:t>
            </a:r>
            <a:r>
              <a:rPr lang="en-GB" sz="1600" spc="0" dirty="0">
                <a:effectLst/>
                <a:latin typeface="Times New Roman" panose="02020603050405020304" pitchFamily="18" charset="0"/>
                <a:ea typeface="Times New Roman" panose="02020603050405020304" pitchFamily="18" charset="0"/>
              </a:rPr>
              <a:t> – Secure buying, selling, and payment handling.</a:t>
            </a:r>
          </a:p>
          <a:p>
            <a:pPr marL="342900" marR="0" lvl="0" indent="-342900">
              <a:lnSpc>
                <a:spcPct val="150000"/>
              </a:lnSpc>
              <a:spcBef>
                <a:spcPts val="610"/>
              </a:spcBef>
              <a:spcAft>
                <a:spcPts val="0"/>
              </a:spcAft>
              <a:buFont typeface="+mj-lt"/>
              <a:buAutoNum type="arabicPeriod"/>
            </a:pPr>
            <a:r>
              <a:rPr lang="en-GB" sz="1600" b="1" spc="0" dirty="0">
                <a:effectLst/>
                <a:latin typeface="Times New Roman" panose="02020603050405020304" pitchFamily="18" charset="0"/>
                <a:ea typeface="Times New Roman" panose="02020603050405020304" pitchFamily="18" charset="0"/>
              </a:rPr>
              <a:t>Ratings &amp; Reviews</a:t>
            </a:r>
            <a:r>
              <a:rPr lang="en-GB" sz="1600" spc="0" dirty="0">
                <a:effectLst/>
                <a:latin typeface="Times New Roman" panose="02020603050405020304" pitchFamily="18" charset="0"/>
                <a:ea typeface="Times New Roman" panose="02020603050405020304" pitchFamily="18" charset="0"/>
              </a:rPr>
              <a:t> – Users can rate and review transactions and sellers.</a:t>
            </a:r>
          </a:p>
        </p:txBody>
      </p:sp>
    </p:spTree>
    <p:extLst>
      <p:ext uri="{BB962C8B-B14F-4D97-AF65-F5344CB8AC3E}">
        <p14:creationId xmlns:p14="http://schemas.microsoft.com/office/powerpoint/2010/main" val="246859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pPr algn="ctr"/>
            <a:r>
              <a:rPr lang="en-US" sz="3600" b="1" dirty="0">
                <a:latin typeface="Times New Roman" panose="02020603050405020304" pitchFamily="18" charset="0"/>
                <a:cs typeface="Times New Roman" panose="02020603050405020304" pitchFamily="18" charset="0"/>
              </a:rPr>
              <a:t>Non-Functional Requirement</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914399" y="2303028"/>
            <a:ext cx="7152711" cy="3991894"/>
          </a:xfrm>
        </p:spPr>
        <p:txBody>
          <a:bodyPr>
            <a:normAutofit/>
          </a:bodyPr>
          <a:lstStyle/>
          <a:p>
            <a:pPr marL="342900" marR="0" lvl="0" indent="-342900">
              <a:lnSpc>
                <a:spcPct val="160000"/>
              </a:lnSpc>
              <a:buFont typeface="Arial" panose="020B0604020202020204" pitchFamily="34" charset="0"/>
              <a:buChar char="•"/>
              <a:tabLst>
                <a:tab pos="278765" algn="l"/>
              </a:tabLst>
            </a:pPr>
            <a:r>
              <a:rPr lang="en-GB" sz="1600" b="1" dirty="0">
                <a:effectLst/>
                <a:latin typeface="Times New Roman" panose="02020603050405020304" pitchFamily="18" charset="0"/>
                <a:ea typeface="Times New Roman" panose="02020603050405020304" pitchFamily="18" charset="0"/>
              </a:rPr>
              <a:t>Performance</a:t>
            </a:r>
            <a:r>
              <a:rPr lang="en-GB" sz="1600" dirty="0">
                <a:effectLst/>
                <a:latin typeface="Times New Roman" panose="02020603050405020304" pitchFamily="18" charset="0"/>
                <a:ea typeface="Times New Roman" panose="02020603050405020304" pitchFamily="18" charset="0"/>
              </a:rPr>
              <a:t> – The system should handle a large number of users and transactions simultaneously without lag.</a:t>
            </a:r>
          </a:p>
          <a:p>
            <a:pPr marL="342900" marR="0" lvl="0" indent="-342900">
              <a:lnSpc>
                <a:spcPct val="160000"/>
              </a:lnSpc>
              <a:buFont typeface="Arial" panose="020B0604020202020204" pitchFamily="34" charset="0"/>
              <a:buChar char="•"/>
              <a:tabLst>
                <a:tab pos="278765" algn="l"/>
              </a:tabLst>
            </a:pPr>
            <a:r>
              <a:rPr lang="en-GB" sz="1600" b="1" dirty="0">
                <a:effectLst/>
                <a:latin typeface="Times New Roman" panose="02020603050405020304" pitchFamily="18" charset="0"/>
                <a:ea typeface="Times New Roman" panose="02020603050405020304" pitchFamily="18" charset="0"/>
              </a:rPr>
              <a:t>Security</a:t>
            </a:r>
            <a:r>
              <a:rPr lang="en-GB" sz="1600" dirty="0">
                <a:effectLst/>
                <a:latin typeface="Times New Roman" panose="02020603050405020304" pitchFamily="18" charset="0"/>
                <a:ea typeface="Times New Roman" panose="02020603050405020304" pitchFamily="18" charset="0"/>
              </a:rPr>
              <a:t> – Ensure secure user data, including encrypted transactions and protection against fraud.</a:t>
            </a:r>
          </a:p>
          <a:p>
            <a:pPr marL="342900" marR="0" lvl="0" indent="-342900">
              <a:lnSpc>
                <a:spcPct val="160000"/>
              </a:lnSpc>
              <a:buFont typeface="Arial" panose="020B0604020202020204" pitchFamily="34" charset="0"/>
              <a:buChar char="•"/>
              <a:tabLst>
                <a:tab pos="278765" algn="l"/>
              </a:tabLst>
            </a:pPr>
            <a:r>
              <a:rPr lang="en-GB" sz="1600" b="1" dirty="0">
                <a:effectLst/>
                <a:latin typeface="Times New Roman" panose="02020603050405020304" pitchFamily="18" charset="0"/>
                <a:ea typeface="Times New Roman" panose="02020603050405020304" pitchFamily="18" charset="0"/>
              </a:rPr>
              <a:t>Scalability</a:t>
            </a:r>
            <a:r>
              <a:rPr lang="en-GB" sz="1600" dirty="0">
                <a:effectLst/>
                <a:latin typeface="Times New Roman" panose="02020603050405020304" pitchFamily="18" charset="0"/>
                <a:ea typeface="Times New Roman" panose="02020603050405020304" pitchFamily="18" charset="0"/>
              </a:rPr>
              <a:t> – The platform should be able to scale up as the number of users and items increases.</a:t>
            </a:r>
          </a:p>
          <a:p>
            <a:pPr marL="342900" marR="0" lvl="0" indent="-342900">
              <a:lnSpc>
                <a:spcPct val="160000"/>
              </a:lnSpc>
              <a:buFont typeface="Arial" panose="020B0604020202020204" pitchFamily="34" charset="0"/>
              <a:buChar char="•"/>
              <a:tabLst>
                <a:tab pos="278765" algn="l"/>
              </a:tabLst>
            </a:pPr>
            <a:r>
              <a:rPr lang="en-GB" sz="1600" b="1" dirty="0">
                <a:effectLst/>
                <a:latin typeface="Times New Roman" panose="02020603050405020304" pitchFamily="18" charset="0"/>
                <a:ea typeface="Times New Roman" panose="02020603050405020304" pitchFamily="18" charset="0"/>
              </a:rPr>
              <a:t>Usability</a:t>
            </a:r>
            <a:r>
              <a:rPr lang="en-GB" sz="1600" dirty="0">
                <a:effectLst/>
                <a:latin typeface="Times New Roman" panose="02020603050405020304" pitchFamily="18" charset="0"/>
                <a:ea typeface="Times New Roman" panose="02020603050405020304" pitchFamily="18" charset="0"/>
              </a:rPr>
              <a:t> – The system should have an intuitive interface, easy for both buyers and sellers to navigate.</a:t>
            </a:r>
          </a:p>
          <a:p>
            <a:pPr marL="342900" marR="0" lvl="0" indent="-342900">
              <a:lnSpc>
                <a:spcPct val="160000"/>
              </a:lnSpc>
              <a:buFont typeface="Arial" panose="020B0604020202020204" pitchFamily="34" charset="0"/>
              <a:buChar char="•"/>
              <a:tabLst>
                <a:tab pos="278765" algn="l"/>
              </a:tabLst>
            </a:pPr>
            <a:r>
              <a:rPr lang="en-GB" sz="1600" b="1" dirty="0">
                <a:effectLst/>
                <a:latin typeface="Times New Roman" panose="02020603050405020304" pitchFamily="18" charset="0"/>
                <a:ea typeface="Times New Roman" panose="02020603050405020304" pitchFamily="18" charset="0"/>
              </a:rPr>
              <a:t>Availability</a:t>
            </a:r>
            <a:r>
              <a:rPr lang="en-GB" sz="1600" dirty="0">
                <a:effectLst/>
                <a:latin typeface="Times New Roman" panose="02020603050405020304" pitchFamily="18" charset="0"/>
                <a:ea typeface="Times New Roman" panose="02020603050405020304" pitchFamily="18" charset="0"/>
              </a:rPr>
              <a:t> – The platform should be accessible 24/7 with minimal downtime.</a:t>
            </a:r>
          </a:p>
        </p:txBody>
      </p:sp>
    </p:spTree>
    <p:extLst>
      <p:ext uri="{BB962C8B-B14F-4D97-AF65-F5344CB8AC3E}">
        <p14:creationId xmlns:p14="http://schemas.microsoft.com/office/powerpoint/2010/main" val="223309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3737" y="202521"/>
            <a:ext cx="9879437" cy="625252"/>
          </a:xfrm>
        </p:spPr>
        <p:txBody>
          <a:bodyPr/>
          <a:lstStyle/>
          <a:p>
            <a:pPr algn="ctr"/>
            <a:r>
              <a:rPr lang="en-US" sz="3600" b="1" dirty="0">
                <a:latin typeface="Times New Roman" panose="02020603050405020304" pitchFamily="18" charset="0"/>
                <a:cs typeface="Times New Roman" panose="02020603050405020304" pitchFamily="18" charset="0"/>
              </a:rPr>
              <a:t>Use Case Diagram</a:t>
            </a:r>
            <a:endParaRPr lang="en-US"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pic>
        <p:nvPicPr>
          <p:cNvPr id="10" name="Content Placeholder 9">
            <a:extLst>
              <a:ext uri="{FF2B5EF4-FFF2-40B4-BE49-F238E27FC236}">
                <a16:creationId xmlns:a16="http://schemas.microsoft.com/office/drawing/2014/main" id="{DB813BC3-F8F4-476B-B71D-7DB08267C0EB}"/>
              </a:ext>
            </a:extLst>
          </p:cNvPr>
          <p:cNvPicPr>
            <a:picLocks noGrp="1" noChangeAspect="1"/>
          </p:cNvPicPr>
          <p:nvPr>
            <p:ph sz="half" idx="1"/>
          </p:nvPr>
        </p:nvPicPr>
        <p:blipFill>
          <a:blip r:embed="rId3"/>
          <a:stretch>
            <a:fillRect/>
          </a:stretch>
        </p:blipFill>
        <p:spPr>
          <a:xfrm>
            <a:off x="4323542" y="928688"/>
            <a:ext cx="4339823" cy="5279607"/>
          </a:xfrm>
          <a:prstGeom prst="rect">
            <a:avLst/>
          </a:prstGeom>
        </p:spPr>
      </p:pic>
      <p:sp>
        <p:nvSpPr>
          <p:cNvPr id="9" name="Text Placeholder 8">
            <a:extLst>
              <a:ext uri="{FF2B5EF4-FFF2-40B4-BE49-F238E27FC236}">
                <a16:creationId xmlns:a16="http://schemas.microsoft.com/office/drawing/2014/main" id="{65E90BD4-7DB2-4998-9473-09FFFC1E69BE}"/>
              </a:ext>
            </a:extLst>
          </p:cNvPr>
          <p:cNvSpPr>
            <a:spLocks noGrp="1"/>
          </p:cNvSpPr>
          <p:nvPr>
            <p:ph type="body" sz="quarter" idx="13"/>
          </p:nvPr>
        </p:nvSpPr>
        <p:spPr>
          <a:xfrm>
            <a:off x="5005846" y="6288093"/>
            <a:ext cx="2975217" cy="343865"/>
          </a:xfrm>
        </p:spPr>
        <p:txBody>
          <a:bodyPr/>
          <a:lstStyle/>
          <a:p>
            <a:r>
              <a:rPr lang="en-US" sz="1800" dirty="0">
                <a:effectLst/>
                <a:latin typeface="Times New Roman" panose="02020603050405020304" pitchFamily="18" charset="0"/>
                <a:ea typeface="Times New Roman" panose="02020603050405020304" pitchFamily="18" charset="0"/>
              </a:rPr>
              <a:t>Figure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30"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Flowchart</a:t>
            </a:r>
            <a:endParaRPr lang="en-GB" sz="1800" dirty="0">
              <a:effectLst/>
              <a:latin typeface="Times New Roman" panose="02020603050405020304" pitchFamily="18" charset="0"/>
              <a:ea typeface="Times New Roman" panose="02020603050405020304" pitchFamily="18" charset="0"/>
            </a:endParaRPr>
          </a:p>
          <a:p>
            <a:endParaRPr lang="en-GB" dirty="0"/>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754979" y="50491"/>
            <a:ext cx="10671048" cy="1362057"/>
          </a:xfrm>
        </p:spPr>
        <p:txBody>
          <a:bodyPr/>
          <a:lstStyle/>
          <a:p>
            <a:r>
              <a:rPr lang="en-US" dirty="0"/>
              <a:t>Architectural design</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7" name="Picture 6">
            <a:extLst>
              <a:ext uri="{FF2B5EF4-FFF2-40B4-BE49-F238E27FC236}">
                <a16:creationId xmlns:a16="http://schemas.microsoft.com/office/drawing/2014/main" id="{6B8F0D7B-8B53-4F79-B340-9213FD37FDFE}"/>
              </a:ext>
            </a:extLst>
          </p:cNvPr>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828437" y="1126157"/>
            <a:ext cx="6524131" cy="5436142"/>
          </a:xfrm>
          <a:prstGeom prst="rect">
            <a:avLst/>
          </a:prstGeom>
        </p:spPr>
      </p:pic>
    </p:spTree>
    <p:extLst>
      <p:ext uri="{BB962C8B-B14F-4D97-AF65-F5344CB8AC3E}">
        <p14:creationId xmlns:p14="http://schemas.microsoft.com/office/powerpoint/2010/main" val="454014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754979" y="50491"/>
            <a:ext cx="10671048" cy="1362057"/>
          </a:xfrm>
        </p:spPr>
        <p:txBody>
          <a:bodyPr/>
          <a:lstStyle/>
          <a:p>
            <a:r>
              <a:rPr lang="en-US" dirty="0"/>
              <a:t>Dfd level 0</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13</a:t>
            </a:fld>
            <a:endParaRPr lang="en-US" dirty="0"/>
          </a:p>
        </p:txBody>
      </p:sp>
      <p:pic>
        <p:nvPicPr>
          <p:cNvPr id="8" name="Picture 7">
            <a:extLst>
              <a:ext uri="{FF2B5EF4-FFF2-40B4-BE49-F238E27FC236}">
                <a16:creationId xmlns:a16="http://schemas.microsoft.com/office/drawing/2014/main" id="{3D098751-5743-4EE1-88A9-AF08E068120E}"/>
              </a:ext>
            </a:extLst>
          </p:cNvPr>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b="17440"/>
          <a:stretch/>
        </p:blipFill>
        <p:spPr bwMode="auto">
          <a:xfrm>
            <a:off x="1051677" y="1819256"/>
            <a:ext cx="10077651" cy="3807461"/>
          </a:xfrm>
          <a:prstGeom prst="rect">
            <a:avLst/>
          </a:prstGeom>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CFD3465C-71C5-4B67-B434-0A58BDBEA53D}"/>
              </a:ext>
            </a:extLst>
          </p:cNvPr>
          <p:cNvSpPr txBox="1"/>
          <p:nvPr/>
        </p:nvSpPr>
        <p:spPr>
          <a:xfrm>
            <a:off x="4290577" y="5626717"/>
            <a:ext cx="3599849" cy="369332"/>
          </a:xfrm>
          <a:prstGeom prst="rect">
            <a:avLst/>
          </a:prstGeom>
          <a:noFill/>
        </p:spPr>
        <p:txBody>
          <a:bodyPr wrap="square" rtlCol="0">
            <a:spAutoFit/>
          </a:bodyPr>
          <a:lstStyle/>
          <a:p>
            <a:pPr algn="ctr"/>
            <a:r>
              <a:rPr lang="en-GB" dirty="0"/>
              <a:t>Figure : DFD level 0</a:t>
            </a:r>
          </a:p>
        </p:txBody>
      </p:sp>
    </p:spTree>
    <p:extLst>
      <p:ext uri="{BB962C8B-B14F-4D97-AF65-F5344CB8AC3E}">
        <p14:creationId xmlns:p14="http://schemas.microsoft.com/office/powerpoint/2010/main" val="3277395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6581553" y="701702"/>
            <a:ext cx="5209786" cy="1362057"/>
          </a:xfrm>
        </p:spPr>
        <p:txBody>
          <a:bodyPr/>
          <a:lstStyle/>
          <a:p>
            <a:r>
              <a:rPr lang="en-US" dirty="0"/>
              <a:t>Dfd level 1</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
        <p:nvSpPr>
          <p:cNvPr id="2" name="TextBox 1">
            <a:extLst>
              <a:ext uri="{FF2B5EF4-FFF2-40B4-BE49-F238E27FC236}">
                <a16:creationId xmlns:a16="http://schemas.microsoft.com/office/drawing/2014/main" id="{CFD3465C-71C5-4B67-B434-0A58BDBEA53D}"/>
              </a:ext>
            </a:extLst>
          </p:cNvPr>
          <p:cNvSpPr txBox="1"/>
          <p:nvPr/>
        </p:nvSpPr>
        <p:spPr>
          <a:xfrm>
            <a:off x="7125705" y="6031469"/>
            <a:ext cx="3599849" cy="369332"/>
          </a:xfrm>
          <a:prstGeom prst="rect">
            <a:avLst/>
          </a:prstGeom>
          <a:noFill/>
        </p:spPr>
        <p:txBody>
          <a:bodyPr wrap="square" rtlCol="0">
            <a:spAutoFit/>
          </a:bodyPr>
          <a:lstStyle/>
          <a:p>
            <a:pPr algn="ctr"/>
            <a:r>
              <a:rPr lang="en-GB" dirty="0"/>
              <a:t>Figure : DFD level 1</a:t>
            </a:r>
          </a:p>
        </p:txBody>
      </p:sp>
      <p:pic>
        <p:nvPicPr>
          <p:cNvPr id="7" name="Picture 6">
            <a:extLst>
              <a:ext uri="{FF2B5EF4-FFF2-40B4-BE49-F238E27FC236}">
                <a16:creationId xmlns:a16="http://schemas.microsoft.com/office/drawing/2014/main" id="{3A15B640-DC96-49F6-9E66-1A29B36F9F5F}"/>
              </a:ext>
            </a:extLst>
          </p:cNvPr>
          <p:cNvPicPr/>
          <p:nvPr/>
        </p:nvPicPr>
        <p:blipFill>
          <a:blip r:embed="rId2">
            <a:extLst>
              <a:ext uri="{28A0092B-C50C-407E-A947-70E740481C1C}">
                <a14:useLocalDpi xmlns:a14="http://schemas.microsoft.com/office/drawing/2010/main" val="0"/>
              </a:ext>
            </a:extLst>
          </a:blip>
          <a:stretch>
            <a:fillRect/>
          </a:stretch>
        </p:blipFill>
        <p:spPr>
          <a:xfrm>
            <a:off x="159495" y="60157"/>
            <a:ext cx="6581553" cy="6797843"/>
          </a:xfrm>
          <a:prstGeom prst="rect">
            <a:avLst/>
          </a:prstGeom>
        </p:spPr>
      </p:pic>
    </p:spTree>
    <p:extLst>
      <p:ext uri="{BB962C8B-B14F-4D97-AF65-F5344CB8AC3E}">
        <p14:creationId xmlns:p14="http://schemas.microsoft.com/office/powerpoint/2010/main" val="256026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3491107" y="479463"/>
            <a:ext cx="5209786" cy="1362057"/>
          </a:xfrm>
        </p:spPr>
        <p:txBody>
          <a:bodyPr/>
          <a:lstStyle/>
          <a:p>
            <a:r>
              <a:rPr lang="en-US" dirty="0"/>
              <a:t>User details</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15</a:t>
            </a:fld>
            <a:endParaRPr lang="en-US" dirty="0"/>
          </a:p>
        </p:txBody>
      </p:sp>
      <p:sp>
        <p:nvSpPr>
          <p:cNvPr id="8" name="TextBox 7">
            <a:extLst>
              <a:ext uri="{FF2B5EF4-FFF2-40B4-BE49-F238E27FC236}">
                <a16:creationId xmlns:a16="http://schemas.microsoft.com/office/drawing/2014/main" id="{8A16262B-F4C6-4042-BF34-8C819F8CA5D7}"/>
              </a:ext>
            </a:extLst>
          </p:cNvPr>
          <p:cNvSpPr txBox="1"/>
          <p:nvPr/>
        </p:nvSpPr>
        <p:spPr>
          <a:xfrm>
            <a:off x="3047144" y="5697508"/>
            <a:ext cx="6097712" cy="463397"/>
          </a:xfrm>
          <a:prstGeom prst="rect">
            <a:avLst/>
          </a:prstGeom>
          <a:noFill/>
        </p:spPr>
        <p:txBody>
          <a:bodyPr wrap="square">
            <a:spAutoFit/>
          </a:bodyPr>
          <a:lstStyle/>
          <a:p>
            <a:pPr marL="0" marR="0" algn="ctr">
              <a:lnSpc>
                <a:spcPct val="150000"/>
              </a:lnSpc>
              <a:spcBef>
                <a:spcPts val="0"/>
              </a:spcBef>
              <a:spcAft>
                <a:spcPts val="1000"/>
              </a:spcAft>
            </a:pP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Figure :User Details Database table</a:t>
            </a:r>
            <a:endParaRPr lang="en-GB" sz="1100" i="1" dirty="0">
              <a:solidFill>
                <a:srgbClr val="44546A"/>
              </a:solidFill>
              <a:effectLst/>
              <a:latin typeface="Calibri" panose="020F0502020204030204" pitchFamily="34" charset="0"/>
              <a:ea typeface="Calibri" panose="020F0502020204030204" pitchFamily="34" charset="0"/>
              <a:cs typeface="Mangal" panose="02040503050203030202" pitchFamily="18" charset="0"/>
            </a:endParaRPr>
          </a:p>
        </p:txBody>
      </p:sp>
      <p:pic>
        <p:nvPicPr>
          <p:cNvPr id="9" name="Picture 8">
            <a:extLst>
              <a:ext uri="{FF2B5EF4-FFF2-40B4-BE49-F238E27FC236}">
                <a16:creationId xmlns:a16="http://schemas.microsoft.com/office/drawing/2014/main" id="{E7FDA86D-9E6C-4EA7-B940-B0E8F2079F68}"/>
              </a:ext>
            </a:extLst>
          </p:cNvPr>
          <p:cNvPicPr>
            <a:picLocks noChangeAspect="1"/>
          </p:cNvPicPr>
          <p:nvPr/>
        </p:nvPicPr>
        <p:blipFill>
          <a:blip r:embed="rId2"/>
          <a:stretch>
            <a:fillRect/>
          </a:stretch>
        </p:blipFill>
        <p:spPr>
          <a:xfrm>
            <a:off x="3400425" y="2143125"/>
            <a:ext cx="5391150" cy="2571750"/>
          </a:xfrm>
          <a:prstGeom prst="rect">
            <a:avLst/>
          </a:prstGeom>
        </p:spPr>
      </p:pic>
      <p:pic>
        <p:nvPicPr>
          <p:cNvPr id="11" name="Picture 10">
            <a:extLst>
              <a:ext uri="{FF2B5EF4-FFF2-40B4-BE49-F238E27FC236}">
                <a16:creationId xmlns:a16="http://schemas.microsoft.com/office/drawing/2014/main" id="{AAE4BC20-30EE-44E7-B6DD-8C1BC53B05F1}"/>
              </a:ext>
            </a:extLst>
          </p:cNvPr>
          <p:cNvPicPr>
            <a:picLocks noChangeAspect="1"/>
          </p:cNvPicPr>
          <p:nvPr/>
        </p:nvPicPr>
        <p:blipFill>
          <a:blip r:embed="rId2"/>
          <a:stretch>
            <a:fillRect/>
          </a:stretch>
        </p:blipFill>
        <p:spPr>
          <a:xfrm>
            <a:off x="2370480" y="2103442"/>
            <a:ext cx="7451040" cy="3554383"/>
          </a:xfrm>
          <a:prstGeom prst="rect">
            <a:avLst/>
          </a:prstGeom>
        </p:spPr>
      </p:pic>
    </p:spTree>
    <p:extLst>
      <p:ext uri="{BB962C8B-B14F-4D97-AF65-F5344CB8AC3E}">
        <p14:creationId xmlns:p14="http://schemas.microsoft.com/office/powerpoint/2010/main" val="3432336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3219895" y="479463"/>
            <a:ext cx="5752210" cy="1362057"/>
          </a:xfrm>
        </p:spPr>
        <p:txBody>
          <a:bodyPr/>
          <a:lstStyle/>
          <a:p>
            <a:r>
              <a:rPr lang="en-US" dirty="0"/>
              <a:t>product details</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16</a:t>
            </a:fld>
            <a:endParaRPr lang="en-US" dirty="0"/>
          </a:p>
        </p:txBody>
      </p:sp>
      <p:sp>
        <p:nvSpPr>
          <p:cNvPr id="8" name="TextBox 7">
            <a:extLst>
              <a:ext uri="{FF2B5EF4-FFF2-40B4-BE49-F238E27FC236}">
                <a16:creationId xmlns:a16="http://schemas.microsoft.com/office/drawing/2014/main" id="{8A16262B-F4C6-4042-BF34-8C819F8CA5D7}"/>
              </a:ext>
            </a:extLst>
          </p:cNvPr>
          <p:cNvSpPr txBox="1"/>
          <p:nvPr/>
        </p:nvSpPr>
        <p:spPr>
          <a:xfrm>
            <a:off x="3047144" y="5697508"/>
            <a:ext cx="6097712" cy="463397"/>
          </a:xfrm>
          <a:prstGeom prst="rect">
            <a:avLst/>
          </a:prstGeom>
          <a:noFill/>
        </p:spPr>
        <p:txBody>
          <a:bodyPr wrap="square">
            <a:spAutoFit/>
          </a:bodyPr>
          <a:lstStyle/>
          <a:p>
            <a:pPr marL="0" marR="0" algn="ctr">
              <a:lnSpc>
                <a:spcPct val="150000"/>
              </a:lnSpc>
              <a:spcBef>
                <a:spcPts val="0"/>
              </a:spcBef>
              <a:spcAft>
                <a:spcPts val="1000"/>
              </a:spcAft>
            </a:pP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Figure :</a:t>
            </a:r>
            <a:r>
              <a:rPr lang="en-US" b="1" i="1" dirty="0">
                <a:solidFill>
                  <a:srgbClr val="44546A"/>
                </a:solidFill>
                <a:latin typeface="Times New Roman" panose="02020603050405020304" pitchFamily="18" charset="0"/>
                <a:ea typeface="Calibri" panose="020F0502020204030204" pitchFamily="34" charset="0"/>
                <a:cs typeface="Mangal" panose="02040503050203030202" pitchFamily="18" charset="0"/>
              </a:rPr>
              <a:t>Product</a:t>
            </a: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 Details Database table</a:t>
            </a:r>
            <a:endParaRPr lang="en-GB" sz="1100" i="1" dirty="0">
              <a:solidFill>
                <a:srgbClr val="44546A"/>
              </a:solidFill>
              <a:effectLst/>
              <a:latin typeface="Calibri" panose="020F0502020204030204" pitchFamily="34" charset="0"/>
              <a:ea typeface="Calibri" panose="020F0502020204030204" pitchFamily="34" charset="0"/>
              <a:cs typeface="Mangal" panose="02040503050203030202" pitchFamily="18" charset="0"/>
            </a:endParaRPr>
          </a:p>
        </p:txBody>
      </p:sp>
      <p:pic>
        <p:nvPicPr>
          <p:cNvPr id="9" name="Picture 8">
            <a:extLst>
              <a:ext uri="{FF2B5EF4-FFF2-40B4-BE49-F238E27FC236}">
                <a16:creationId xmlns:a16="http://schemas.microsoft.com/office/drawing/2014/main" id="{E7FDA86D-9E6C-4EA7-B940-B0E8F2079F68}"/>
              </a:ext>
            </a:extLst>
          </p:cNvPr>
          <p:cNvPicPr>
            <a:picLocks noChangeAspect="1"/>
          </p:cNvPicPr>
          <p:nvPr/>
        </p:nvPicPr>
        <p:blipFill>
          <a:blip r:embed="rId2"/>
          <a:stretch>
            <a:fillRect/>
          </a:stretch>
        </p:blipFill>
        <p:spPr>
          <a:xfrm>
            <a:off x="3400425" y="2143125"/>
            <a:ext cx="5391150" cy="2571750"/>
          </a:xfrm>
          <a:prstGeom prst="rect">
            <a:avLst/>
          </a:prstGeom>
        </p:spPr>
      </p:pic>
      <p:pic>
        <p:nvPicPr>
          <p:cNvPr id="11" name="Picture 10">
            <a:extLst>
              <a:ext uri="{FF2B5EF4-FFF2-40B4-BE49-F238E27FC236}">
                <a16:creationId xmlns:a16="http://schemas.microsoft.com/office/drawing/2014/main" id="{AAE4BC20-30EE-44E7-B6DD-8C1BC53B05F1}"/>
              </a:ext>
            </a:extLst>
          </p:cNvPr>
          <p:cNvPicPr>
            <a:picLocks noChangeAspect="1"/>
          </p:cNvPicPr>
          <p:nvPr/>
        </p:nvPicPr>
        <p:blipFill>
          <a:blip r:embed="rId3"/>
          <a:srcRect/>
          <a:stretch/>
        </p:blipFill>
        <p:spPr>
          <a:xfrm>
            <a:off x="2370480" y="2252234"/>
            <a:ext cx="7451040" cy="3256799"/>
          </a:xfrm>
          <a:prstGeom prst="rect">
            <a:avLst/>
          </a:prstGeom>
        </p:spPr>
      </p:pic>
    </p:spTree>
    <p:extLst>
      <p:ext uri="{BB962C8B-B14F-4D97-AF65-F5344CB8AC3E}">
        <p14:creationId xmlns:p14="http://schemas.microsoft.com/office/powerpoint/2010/main" val="3562270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3219895" y="479463"/>
            <a:ext cx="5752210" cy="1362057"/>
          </a:xfrm>
        </p:spPr>
        <p:txBody>
          <a:bodyPr/>
          <a:lstStyle/>
          <a:p>
            <a:r>
              <a:rPr lang="en-US" dirty="0"/>
              <a:t>payment details</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17</a:t>
            </a:fld>
            <a:endParaRPr lang="en-US" dirty="0"/>
          </a:p>
        </p:txBody>
      </p:sp>
      <p:sp>
        <p:nvSpPr>
          <p:cNvPr id="8" name="TextBox 7">
            <a:extLst>
              <a:ext uri="{FF2B5EF4-FFF2-40B4-BE49-F238E27FC236}">
                <a16:creationId xmlns:a16="http://schemas.microsoft.com/office/drawing/2014/main" id="{8A16262B-F4C6-4042-BF34-8C819F8CA5D7}"/>
              </a:ext>
            </a:extLst>
          </p:cNvPr>
          <p:cNvSpPr txBox="1"/>
          <p:nvPr/>
        </p:nvSpPr>
        <p:spPr>
          <a:xfrm>
            <a:off x="3047144" y="5697508"/>
            <a:ext cx="6097712" cy="463397"/>
          </a:xfrm>
          <a:prstGeom prst="rect">
            <a:avLst/>
          </a:prstGeom>
          <a:noFill/>
        </p:spPr>
        <p:txBody>
          <a:bodyPr wrap="square">
            <a:spAutoFit/>
          </a:bodyPr>
          <a:lstStyle/>
          <a:p>
            <a:pPr marL="0" marR="0" algn="ctr">
              <a:lnSpc>
                <a:spcPct val="150000"/>
              </a:lnSpc>
              <a:spcBef>
                <a:spcPts val="0"/>
              </a:spcBef>
              <a:spcAft>
                <a:spcPts val="1000"/>
              </a:spcAft>
            </a:pP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Figure :</a:t>
            </a:r>
            <a:r>
              <a:rPr lang="en-US" b="1" i="1" dirty="0">
                <a:solidFill>
                  <a:srgbClr val="44546A"/>
                </a:solidFill>
                <a:latin typeface="Times New Roman" panose="02020603050405020304" pitchFamily="18" charset="0"/>
                <a:ea typeface="Calibri" panose="020F0502020204030204" pitchFamily="34" charset="0"/>
                <a:cs typeface="Mangal" panose="02040503050203030202" pitchFamily="18" charset="0"/>
              </a:rPr>
              <a:t>Payment</a:t>
            </a: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 Details Database table</a:t>
            </a:r>
            <a:endParaRPr lang="en-GB" sz="1100" i="1" dirty="0">
              <a:solidFill>
                <a:srgbClr val="44546A"/>
              </a:solidFill>
              <a:effectLst/>
              <a:latin typeface="Calibri" panose="020F0502020204030204" pitchFamily="34" charset="0"/>
              <a:ea typeface="Calibri" panose="020F0502020204030204" pitchFamily="34" charset="0"/>
              <a:cs typeface="Mangal" panose="02040503050203030202" pitchFamily="18" charset="0"/>
            </a:endParaRPr>
          </a:p>
        </p:txBody>
      </p:sp>
      <p:pic>
        <p:nvPicPr>
          <p:cNvPr id="11" name="Picture 10">
            <a:extLst>
              <a:ext uri="{FF2B5EF4-FFF2-40B4-BE49-F238E27FC236}">
                <a16:creationId xmlns:a16="http://schemas.microsoft.com/office/drawing/2014/main" id="{AAE4BC20-30EE-44E7-B6DD-8C1BC53B05F1}"/>
              </a:ext>
            </a:extLst>
          </p:cNvPr>
          <p:cNvPicPr>
            <a:picLocks noChangeAspect="1"/>
          </p:cNvPicPr>
          <p:nvPr/>
        </p:nvPicPr>
        <p:blipFill>
          <a:blip r:embed="rId2"/>
          <a:srcRect/>
          <a:stretch/>
        </p:blipFill>
        <p:spPr>
          <a:xfrm>
            <a:off x="1234403" y="2435882"/>
            <a:ext cx="9723193" cy="1986235"/>
          </a:xfrm>
          <a:prstGeom prst="rect">
            <a:avLst/>
          </a:prstGeom>
        </p:spPr>
      </p:pic>
    </p:spTree>
    <p:extLst>
      <p:ext uri="{BB962C8B-B14F-4D97-AF65-F5344CB8AC3E}">
        <p14:creationId xmlns:p14="http://schemas.microsoft.com/office/powerpoint/2010/main" val="2492346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9A614F-F725-4BA2-A3CD-550806CE9F7A}"/>
              </a:ext>
            </a:extLst>
          </p:cNvPr>
          <p:cNvSpPr>
            <a:spLocks noGrp="1"/>
          </p:cNvSpPr>
          <p:nvPr>
            <p:ph type="title"/>
          </p:nvPr>
        </p:nvSpPr>
        <p:spPr>
          <a:xfrm>
            <a:off x="3219895" y="479463"/>
            <a:ext cx="5752210" cy="1362057"/>
          </a:xfrm>
        </p:spPr>
        <p:txBody>
          <a:bodyPr/>
          <a:lstStyle/>
          <a:p>
            <a:r>
              <a:rPr lang="en-US" dirty="0"/>
              <a:t>order details</a:t>
            </a:r>
            <a:endParaRPr lang="en-GB" dirty="0"/>
          </a:p>
        </p:txBody>
      </p:sp>
      <p:sp>
        <p:nvSpPr>
          <p:cNvPr id="5" name="Slide Number Placeholder 4">
            <a:extLst>
              <a:ext uri="{FF2B5EF4-FFF2-40B4-BE49-F238E27FC236}">
                <a16:creationId xmlns:a16="http://schemas.microsoft.com/office/drawing/2014/main" id="{D342125F-A8A7-402B-9136-3CCF13AF0F9C}"/>
              </a:ext>
            </a:extLst>
          </p:cNvPr>
          <p:cNvSpPr>
            <a:spLocks noGrp="1"/>
          </p:cNvSpPr>
          <p:nvPr>
            <p:ph type="sldNum" sz="quarter" idx="12"/>
          </p:nvPr>
        </p:nvSpPr>
        <p:spPr/>
        <p:txBody>
          <a:bodyPr/>
          <a:lstStyle/>
          <a:p>
            <a:fld id="{48F63A3B-78C7-47BE-AE5E-E10140E04643}" type="slidenum">
              <a:rPr lang="en-US" smtClean="0"/>
              <a:pPr/>
              <a:t>18</a:t>
            </a:fld>
            <a:endParaRPr lang="en-US" dirty="0"/>
          </a:p>
        </p:txBody>
      </p:sp>
      <p:sp>
        <p:nvSpPr>
          <p:cNvPr id="8" name="TextBox 7">
            <a:extLst>
              <a:ext uri="{FF2B5EF4-FFF2-40B4-BE49-F238E27FC236}">
                <a16:creationId xmlns:a16="http://schemas.microsoft.com/office/drawing/2014/main" id="{8A16262B-F4C6-4042-BF34-8C819F8CA5D7}"/>
              </a:ext>
            </a:extLst>
          </p:cNvPr>
          <p:cNvSpPr txBox="1"/>
          <p:nvPr/>
        </p:nvSpPr>
        <p:spPr>
          <a:xfrm>
            <a:off x="3047144" y="5697508"/>
            <a:ext cx="6097712" cy="463397"/>
          </a:xfrm>
          <a:prstGeom prst="rect">
            <a:avLst/>
          </a:prstGeom>
          <a:noFill/>
        </p:spPr>
        <p:txBody>
          <a:bodyPr wrap="square">
            <a:spAutoFit/>
          </a:bodyPr>
          <a:lstStyle/>
          <a:p>
            <a:pPr marL="0" marR="0" algn="ctr">
              <a:lnSpc>
                <a:spcPct val="150000"/>
              </a:lnSpc>
              <a:spcBef>
                <a:spcPts val="0"/>
              </a:spcBef>
              <a:spcAft>
                <a:spcPts val="1000"/>
              </a:spcAft>
            </a:pP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Figure :</a:t>
            </a:r>
            <a:r>
              <a:rPr lang="en-US" b="1" i="1" dirty="0">
                <a:solidFill>
                  <a:srgbClr val="44546A"/>
                </a:solidFill>
                <a:latin typeface="Times New Roman" panose="02020603050405020304" pitchFamily="18" charset="0"/>
                <a:ea typeface="Calibri" panose="020F0502020204030204" pitchFamily="34" charset="0"/>
                <a:cs typeface="Mangal" panose="02040503050203030202" pitchFamily="18" charset="0"/>
              </a:rPr>
              <a:t>Order</a:t>
            </a:r>
            <a:r>
              <a:rPr lang="en-US" sz="1800" b="1" i="1" dirty="0">
                <a:solidFill>
                  <a:srgbClr val="44546A"/>
                </a:solidFill>
                <a:effectLst/>
                <a:latin typeface="Times New Roman" panose="02020603050405020304" pitchFamily="18" charset="0"/>
                <a:ea typeface="Calibri" panose="020F0502020204030204" pitchFamily="34" charset="0"/>
                <a:cs typeface="Mangal" panose="02040503050203030202" pitchFamily="18" charset="0"/>
              </a:rPr>
              <a:t> Details Database table</a:t>
            </a:r>
            <a:endParaRPr lang="en-GB" sz="1100" i="1" dirty="0">
              <a:solidFill>
                <a:srgbClr val="44546A"/>
              </a:solidFill>
              <a:effectLst/>
              <a:latin typeface="Calibri" panose="020F0502020204030204" pitchFamily="34" charset="0"/>
              <a:ea typeface="Calibri" panose="020F0502020204030204" pitchFamily="34" charset="0"/>
              <a:cs typeface="Mangal" panose="02040503050203030202" pitchFamily="18" charset="0"/>
            </a:endParaRPr>
          </a:p>
        </p:txBody>
      </p:sp>
      <p:pic>
        <p:nvPicPr>
          <p:cNvPr id="11" name="Picture 10">
            <a:extLst>
              <a:ext uri="{FF2B5EF4-FFF2-40B4-BE49-F238E27FC236}">
                <a16:creationId xmlns:a16="http://schemas.microsoft.com/office/drawing/2014/main" id="{AAE4BC20-30EE-44E7-B6DD-8C1BC53B05F1}"/>
              </a:ext>
            </a:extLst>
          </p:cNvPr>
          <p:cNvPicPr>
            <a:picLocks noChangeAspect="1"/>
          </p:cNvPicPr>
          <p:nvPr/>
        </p:nvPicPr>
        <p:blipFill>
          <a:blip r:embed="rId2"/>
          <a:srcRect/>
          <a:stretch/>
        </p:blipFill>
        <p:spPr>
          <a:xfrm>
            <a:off x="2152216" y="2312592"/>
            <a:ext cx="7887568" cy="2232815"/>
          </a:xfrm>
          <a:prstGeom prst="rect">
            <a:avLst/>
          </a:prstGeom>
        </p:spPr>
      </p:pic>
    </p:spTree>
    <p:extLst>
      <p:ext uri="{BB962C8B-B14F-4D97-AF65-F5344CB8AC3E}">
        <p14:creationId xmlns:p14="http://schemas.microsoft.com/office/powerpoint/2010/main" val="4252173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A6DD96-8845-4DAD-AB25-A74137D28AC3}"/>
              </a:ext>
            </a:extLst>
          </p:cNvPr>
          <p:cNvSpPr>
            <a:spLocks noGrp="1"/>
          </p:cNvSpPr>
          <p:nvPr>
            <p:ph type="title"/>
          </p:nvPr>
        </p:nvSpPr>
        <p:spPr>
          <a:xfrm>
            <a:off x="663255" y="2109170"/>
            <a:ext cx="4902545" cy="1362057"/>
          </a:xfrm>
        </p:spPr>
        <p:txBody>
          <a:bodyPr/>
          <a:lstStyle/>
          <a:p>
            <a:r>
              <a:rPr lang="en-US" dirty="0"/>
              <a:t>Database schema design </a:t>
            </a:r>
            <a:endParaRPr lang="en-GB" dirty="0"/>
          </a:p>
        </p:txBody>
      </p:sp>
      <p:sp>
        <p:nvSpPr>
          <p:cNvPr id="3" name="Slide Number Placeholder 2">
            <a:extLst>
              <a:ext uri="{FF2B5EF4-FFF2-40B4-BE49-F238E27FC236}">
                <a16:creationId xmlns:a16="http://schemas.microsoft.com/office/drawing/2014/main" id="{FA1BED31-0E68-4EF8-A75F-3A092C8D0BDB}"/>
              </a:ext>
            </a:extLst>
          </p:cNvPr>
          <p:cNvSpPr>
            <a:spLocks noGrp="1"/>
          </p:cNvSpPr>
          <p:nvPr>
            <p:ph type="sldNum" sz="quarter" idx="12"/>
          </p:nvPr>
        </p:nvSpPr>
        <p:spPr/>
        <p:txBody>
          <a:bodyPr/>
          <a:lstStyle/>
          <a:p>
            <a:fld id="{48F63A3B-78C7-47BE-AE5E-E10140E04643}" type="slidenum">
              <a:rPr lang="en-US" smtClean="0"/>
              <a:pPr/>
              <a:t>19</a:t>
            </a:fld>
            <a:endParaRPr lang="en-US" dirty="0"/>
          </a:p>
        </p:txBody>
      </p:sp>
      <p:pic>
        <p:nvPicPr>
          <p:cNvPr id="5" name="Picture 4">
            <a:extLst>
              <a:ext uri="{FF2B5EF4-FFF2-40B4-BE49-F238E27FC236}">
                <a16:creationId xmlns:a16="http://schemas.microsoft.com/office/drawing/2014/main" id="{EFCC920B-769C-4EBD-82AB-19047F80B3CB}"/>
              </a:ext>
            </a:extLst>
          </p:cNvPr>
          <p:cNvPicPr/>
          <p:nvPr/>
        </p:nvPicPr>
        <p:blipFill rotWithShape="1">
          <a:blip r:embed="rId2">
            <a:extLst>
              <a:ext uri="{28A0092B-C50C-407E-A947-70E740481C1C}">
                <a14:useLocalDpi xmlns:a14="http://schemas.microsoft.com/office/drawing/2010/main" val="0"/>
              </a:ext>
            </a:extLst>
          </a:blip>
          <a:srcRect l="17919" t="4449" r="28563"/>
          <a:stretch/>
        </p:blipFill>
        <p:spPr bwMode="auto">
          <a:xfrm>
            <a:off x="5661497" y="9145"/>
            <a:ext cx="6530503" cy="685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63793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1BED31-0E68-4EF8-A75F-3A092C8D0BDB}"/>
              </a:ext>
            </a:extLst>
          </p:cNvPr>
          <p:cNvSpPr>
            <a:spLocks noGrp="1"/>
          </p:cNvSpPr>
          <p:nvPr>
            <p:ph type="sldNum" sz="quarter" idx="12"/>
          </p:nvPr>
        </p:nvSpPr>
        <p:spPr/>
        <p:txBody>
          <a:bodyPr/>
          <a:lstStyle/>
          <a:p>
            <a:fld id="{48F63A3B-78C7-47BE-AE5E-E10140E04643}" type="slidenum">
              <a:rPr lang="en-US" smtClean="0"/>
              <a:pPr/>
              <a:t>20</a:t>
            </a:fld>
            <a:endParaRPr lang="en-US" dirty="0"/>
          </a:p>
        </p:txBody>
      </p:sp>
      <p:sp>
        <p:nvSpPr>
          <p:cNvPr id="4" name="Title 3">
            <a:extLst>
              <a:ext uri="{FF2B5EF4-FFF2-40B4-BE49-F238E27FC236}">
                <a16:creationId xmlns:a16="http://schemas.microsoft.com/office/drawing/2014/main" id="{34A6DD96-8845-4DAD-AB25-A74137D28AC3}"/>
              </a:ext>
            </a:extLst>
          </p:cNvPr>
          <p:cNvSpPr>
            <a:spLocks noGrp="1"/>
          </p:cNvSpPr>
          <p:nvPr>
            <p:ph type="title" idx="4294967295"/>
          </p:nvPr>
        </p:nvSpPr>
        <p:spPr>
          <a:xfrm>
            <a:off x="168385" y="2667000"/>
            <a:ext cx="3932238" cy="1524000"/>
          </a:xfrm>
        </p:spPr>
        <p:txBody>
          <a:bodyPr/>
          <a:lstStyle/>
          <a:p>
            <a:r>
              <a:rPr lang="en-US" dirty="0"/>
              <a:t>Database design </a:t>
            </a:r>
            <a:endParaRPr lang="en-GB" dirty="0"/>
          </a:p>
        </p:txBody>
      </p:sp>
      <p:pic>
        <p:nvPicPr>
          <p:cNvPr id="6" name="Picture 5">
            <a:extLst>
              <a:ext uri="{FF2B5EF4-FFF2-40B4-BE49-F238E27FC236}">
                <a16:creationId xmlns:a16="http://schemas.microsoft.com/office/drawing/2014/main" id="{F5204333-57C4-4214-AAD3-D48C582128CD}"/>
              </a:ext>
            </a:extLst>
          </p:cNvPr>
          <p:cNvPicPr/>
          <p:nvPr/>
        </p:nvPicPr>
        <p:blipFill>
          <a:blip r:embed="rId2">
            <a:alphaModFix/>
            <a:extLst>
              <a:ext uri="{BEBA8EAE-BF5A-486C-A8C5-ECC9F3942E4B}">
                <a14:imgProps xmlns:a14="http://schemas.microsoft.com/office/drawing/2010/main">
                  <a14:imgLayer r:embed="rId3">
                    <a14:imgEffect>
                      <a14:sharpenSoften amount="50000"/>
                    </a14:imgEffect>
                    <a14:imgEffect>
                      <a14:saturation sat="300000"/>
                    </a14:imgEffect>
                  </a14:imgLayer>
                </a14:imgProps>
              </a:ext>
              <a:ext uri="{28A0092B-C50C-407E-A947-70E740481C1C}">
                <a14:useLocalDpi xmlns:a14="http://schemas.microsoft.com/office/drawing/2010/main" val="0"/>
              </a:ext>
            </a:extLst>
          </a:blip>
          <a:stretch>
            <a:fillRect/>
          </a:stretch>
        </p:blipFill>
        <p:spPr>
          <a:xfrm>
            <a:off x="4114800" y="741459"/>
            <a:ext cx="7432158" cy="5234039"/>
          </a:xfrm>
          <a:prstGeom prst="rect">
            <a:avLst/>
          </a:prstGeom>
        </p:spPr>
      </p:pic>
    </p:spTree>
    <p:extLst>
      <p:ext uri="{BB962C8B-B14F-4D97-AF65-F5344CB8AC3E}">
        <p14:creationId xmlns:p14="http://schemas.microsoft.com/office/powerpoint/2010/main" val="3917164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A6DD96-8845-4DAD-AB25-A74137D28AC3}"/>
              </a:ext>
            </a:extLst>
          </p:cNvPr>
          <p:cNvSpPr>
            <a:spLocks noGrp="1"/>
          </p:cNvSpPr>
          <p:nvPr>
            <p:ph type="title"/>
          </p:nvPr>
        </p:nvSpPr>
        <p:spPr>
          <a:xfrm>
            <a:off x="0" y="1943099"/>
            <a:ext cx="3801979" cy="2971801"/>
          </a:xfrm>
        </p:spPr>
        <p:txBody>
          <a:bodyPr/>
          <a:lstStyle/>
          <a:p>
            <a:r>
              <a:rPr lang="en-US" dirty="0"/>
              <a:t>Er diagram</a:t>
            </a:r>
            <a:endParaRPr lang="en-GB" dirty="0"/>
          </a:p>
        </p:txBody>
      </p:sp>
      <p:sp>
        <p:nvSpPr>
          <p:cNvPr id="3" name="Slide Number Placeholder 2">
            <a:extLst>
              <a:ext uri="{FF2B5EF4-FFF2-40B4-BE49-F238E27FC236}">
                <a16:creationId xmlns:a16="http://schemas.microsoft.com/office/drawing/2014/main" id="{FA1BED31-0E68-4EF8-A75F-3A092C8D0BDB}"/>
              </a:ext>
            </a:extLst>
          </p:cNvPr>
          <p:cNvSpPr>
            <a:spLocks noGrp="1"/>
          </p:cNvSpPr>
          <p:nvPr>
            <p:ph type="sldNum" sz="quarter" idx="12"/>
          </p:nvPr>
        </p:nvSpPr>
        <p:spPr/>
        <p:txBody>
          <a:bodyPr/>
          <a:lstStyle/>
          <a:p>
            <a:fld id="{48F63A3B-78C7-47BE-AE5E-E10140E04643}" type="slidenum">
              <a:rPr lang="en-US" smtClean="0"/>
              <a:pPr/>
              <a:t>21</a:t>
            </a:fld>
            <a:endParaRPr lang="en-US" dirty="0"/>
          </a:p>
        </p:txBody>
      </p:sp>
      <p:pic>
        <p:nvPicPr>
          <p:cNvPr id="6" name="Picture 5">
            <a:extLst>
              <a:ext uri="{FF2B5EF4-FFF2-40B4-BE49-F238E27FC236}">
                <a16:creationId xmlns:a16="http://schemas.microsoft.com/office/drawing/2014/main" id="{65BDDC8E-EE90-49CE-8146-84DE92DEC5B1}"/>
              </a:ext>
            </a:extLst>
          </p:cNvPr>
          <p:cNvPicPr/>
          <p:nvPr/>
        </p:nvPicPr>
        <p:blipFill>
          <a:blip r:embed="rId2">
            <a:extLst>
              <a:ext uri="{28A0092B-C50C-407E-A947-70E740481C1C}">
                <a14:useLocalDpi xmlns:a14="http://schemas.microsoft.com/office/drawing/2010/main" val="0"/>
              </a:ext>
            </a:extLst>
          </a:blip>
          <a:stretch>
            <a:fillRect/>
          </a:stretch>
        </p:blipFill>
        <p:spPr>
          <a:xfrm>
            <a:off x="2974207" y="205504"/>
            <a:ext cx="9009246" cy="6446992"/>
          </a:xfrm>
          <a:prstGeom prst="rect">
            <a:avLst/>
          </a:prstGeom>
        </p:spPr>
      </p:pic>
    </p:spTree>
    <p:extLst>
      <p:ext uri="{BB962C8B-B14F-4D97-AF65-F5344CB8AC3E}">
        <p14:creationId xmlns:p14="http://schemas.microsoft.com/office/powerpoint/2010/main" val="3454585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dirty="0">
                <a:latin typeface="Times New Roman" panose="02020603050405020304" pitchFamily="18" charset="0"/>
                <a:cs typeface="Times New Roman" panose="02020603050405020304" pitchFamily="18" charset="0"/>
              </a:rPr>
              <a:t>ALGORITHM</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331791"/>
            <a:ext cx="6903076" cy="3721817"/>
          </a:xfrm>
        </p:spPr>
        <p:txBody>
          <a:bodyPr>
            <a:normAutofit fontScale="92500" lnSpcReduction="20000"/>
          </a:bodyPr>
          <a:lstStyle/>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Collaborative Filtering: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Analyzes user behavior to recommend products based on patterns among users or items.</a:t>
            </a:r>
          </a:p>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User-Based Collaborative Filtering: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Finds users with similar preferences by analyzing their past purchases or interactions.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Suggests products liked by these similar users.</a:t>
            </a:r>
          </a:p>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Item-Based Collaborative Filtering: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Identifies relationships between products based on user ratings or actions.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Recommends items similar to those a user has previously purchased or favorited. </a:t>
            </a:r>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1673692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422297"/>
            <a:ext cx="7843837" cy="1012782"/>
          </a:xfrm>
        </p:spPr>
        <p:txBody>
          <a:bodyPr/>
          <a:lstStyle/>
          <a:p>
            <a:r>
              <a:rPr lang="en-US" dirty="0">
                <a:latin typeface="Times New Roman" panose="02020603050405020304" pitchFamily="18" charset="0"/>
                <a:cs typeface="Times New Roman" panose="02020603050405020304" pitchFamily="18" charset="0"/>
              </a:rPr>
              <a:t>GANTT CHART</a:t>
            </a:r>
          </a:p>
        </p:txBody>
      </p:sp>
      <p:pic>
        <p:nvPicPr>
          <p:cNvPr id="7" name="Picture Placeholder 6">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a:blip r:embed="rId3">
            <a:extLst>
              <a:ext uri="{837473B0-CC2E-450A-ABE3-18F120FF3D39}">
                <a1611:picAttrSrcUrl xmlns:a1611="http://schemas.microsoft.com/office/drawing/2016/11/main" r:id="rId4"/>
              </a:ext>
            </a:extLst>
          </a:blip>
          <a:srcRect l="16464" r="16464"/>
          <a:stretch/>
        </p:blipFill>
        <p:spPr>
          <a:xfrm>
            <a:off x="8989454" y="3436011"/>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23</a:t>
            </a:fld>
            <a:endParaRPr lang="en-US" dirty="0"/>
          </a:p>
        </p:txBody>
      </p:sp>
      <p:pic>
        <p:nvPicPr>
          <p:cNvPr id="8" name="Picture 7">
            <a:extLst>
              <a:ext uri="{FF2B5EF4-FFF2-40B4-BE49-F238E27FC236}">
                <a16:creationId xmlns:a16="http://schemas.microsoft.com/office/drawing/2014/main" id="{81DA5B2A-97AF-416F-8A9E-8FCE4735C0C8}"/>
              </a:ext>
            </a:extLst>
          </p:cNvPr>
          <p:cNvPicPr/>
          <p:nvPr/>
        </p:nvPicPr>
        <p:blipFill>
          <a:blip r:embed="rId5">
            <a:extLst>
              <a:ext uri="{28A0092B-C50C-407E-A947-70E740481C1C}">
                <a14:useLocalDpi xmlns:a14="http://schemas.microsoft.com/office/drawing/2010/main" val="0"/>
              </a:ext>
            </a:extLst>
          </a:blip>
          <a:stretch>
            <a:fillRect/>
          </a:stretch>
        </p:blipFill>
        <p:spPr>
          <a:xfrm>
            <a:off x="675958" y="1569971"/>
            <a:ext cx="7843837" cy="3718057"/>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sz="3600" b="1" dirty="0">
                <a:latin typeface="Times New Roman" panose="02020603050405020304" pitchFamily="18" charset="0"/>
                <a:cs typeface="Times New Roman" panose="02020603050405020304" pitchFamily="18" charset="0"/>
              </a:rPr>
              <a:t>Expected Outcomes</a:t>
            </a:r>
            <a:endParaRPr lang="en-US" dirty="0">
              <a:latin typeface="Times New Roman" panose="02020603050405020304" pitchFamily="18" charset="0"/>
              <a:cs typeface="Times New Roman" panose="02020603050405020304" pitchFamily="18" charset="0"/>
            </a:endParaRP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22095"/>
            <a:ext cx="7546206" cy="3570512"/>
          </a:xfrm>
        </p:spPr>
        <p:txBody>
          <a:bodyPr>
            <a:normAutofit/>
          </a:bodyPr>
          <a:lstStyle/>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get personalized product suggestions based on their preferences and browsing history.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platform enhances user experience by making product discovery smooth and hassle-free.</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benefit from quicker, more relevant item searches, saving time and effort.</a:t>
            </a:r>
          </a:p>
        </p:txBody>
      </p:sp>
      <p:pic>
        <p:nvPicPr>
          <p:cNvPr id="10" name="Picture Placeholder 9">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extLst>
              <a:ext uri="{837473B0-CC2E-450A-ABE3-18F120FF3D39}">
                <a1611:picAttrSrcUrl xmlns:a1611="http://schemas.microsoft.com/office/drawing/2016/11/main" r:id="rId4"/>
              </a:ext>
            </a:extLst>
          </a:blip>
          <a:srcRect l="52948" t="623" r="16480" b="-623"/>
          <a:stretch/>
        </p:blipFill>
        <p:spPr>
          <a:xfrm>
            <a:off x="8989454" y="965393"/>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3093670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6EB65D-04C0-4835-B086-9CA4E293044F}"/>
              </a:ext>
            </a:extLst>
          </p:cNvPr>
          <p:cNvSpPr>
            <a:spLocks noGrp="1"/>
          </p:cNvSpPr>
          <p:nvPr>
            <p:ph type="title"/>
          </p:nvPr>
        </p:nvSpPr>
        <p:spPr/>
        <p:txBody>
          <a:bodyPr/>
          <a:lstStyle/>
          <a:p>
            <a:pPr algn="ctr"/>
            <a:r>
              <a:rPr lang="en-US" dirty="0"/>
              <a:t>INTERFACE DESIGN</a:t>
            </a:r>
            <a:endParaRPr lang="en-GB" dirty="0"/>
          </a:p>
        </p:txBody>
      </p:sp>
      <p:sp>
        <p:nvSpPr>
          <p:cNvPr id="3" name="Slide Number Placeholder 2">
            <a:extLst>
              <a:ext uri="{FF2B5EF4-FFF2-40B4-BE49-F238E27FC236}">
                <a16:creationId xmlns:a16="http://schemas.microsoft.com/office/drawing/2014/main" id="{EEFF7653-6065-4E7F-A4FD-7B30ECF6413E}"/>
              </a:ext>
            </a:extLst>
          </p:cNvPr>
          <p:cNvSpPr>
            <a:spLocks noGrp="1"/>
          </p:cNvSpPr>
          <p:nvPr>
            <p:ph type="sldNum" sz="quarter" idx="12"/>
          </p:nvPr>
        </p:nvSpPr>
        <p:spPr/>
        <p:txBody>
          <a:bodyPr/>
          <a:lstStyle/>
          <a:p>
            <a:fld id="{48F63A3B-78C7-47BE-AE5E-E10140E04643}" type="slidenum">
              <a:rPr lang="en-US" smtClean="0"/>
              <a:pPr/>
              <a:t>25</a:t>
            </a:fld>
            <a:endParaRPr lang="en-US" dirty="0"/>
          </a:p>
        </p:txBody>
      </p:sp>
      <p:pic>
        <p:nvPicPr>
          <p:cNvPr id="10" name="Content Placeholder 9">
            <a:extLst>
              <a:ext uri="{FF2B5EF4-FFF2-40B4-BE49-F238E27FC236}">
                <a16:creationId xmlns:a16="http://schemas.microsoft.com/office/drawing/2014/main" id="{B3E0CDAC-81CF-4BA5-9346-4ED7EDB4A03A}"/>
              </a:ext>
            </a:extLst>
          </p:cNvPr>
          <p:cNvPicPr>
            <a:picLocks noGrp="1" noChangeAspect="1"/>
          </p:cNvPicPr>
          <p:nvPr>
            <p:ph idx="1"/>
          </p:nvPr>
        </p:nvPicPr>
        <p:blipFill>
          <a:blip r:embed="rId2"/>
          <a:stretch>
            <a:fillRect/>
          </a:stretch>
        </p:blipFill>
        <p:spPr>
          <a:xfrm>
            <a:off x="5183188" y="1933176"/>
            <a:ext cx="6242050" cy="3919910"/>
          </a:xfrm>
        </p:spPr>
      </p:pic>
      <p:pic>
        <p:nvPicPr>
          <p:cNvPr id="12" name="Content Placeholder 11">
            <a:extLst>
              <a:ext uri="{FF2B5EF4-FFF2-40B4-BE49-F238E27FC236}">
                <a16:creationId xmlns:a16="http://schemas.microsoft.com/office/drawing/2014/main" id="{B431D2C8-C49C-4E5D-9AEE-9946CC89932F}"/>
              </a:ext>
            </a:extLst>
          </p:cNvPr>
          <p:cNvPicPr>
            <a:picLocks noGrp="1" noChangeAspect="1"/>
          </p:cNvPicPr>
          <p:nvPr>
            <p:ph sz="quarter" idx="4294967295"/>
          </p:nvPr>
        </p:nvPicPr>
        <p:blipFill rotWithShape="1">
          <a:blip r:embed="rId3"/>
          <a:srcRect t="2844"/>
          <a:stretch/>
        </p:blipFill>
        <p:spPr>
          <a:xfrm>
            <a:off x="758889" y="2583712"/>
            <a:ext cx="3932237" cy="3269373"/>
          </a:xfrm>
        </p:spPr>
      </p:pic>
    </p:spTree>
    <p:extLst>
      <p:ext uri="{BB962C8B-B14F-4D97-AF65-F5344CB8AC3E}">
        <p14:creationId xmlns:p14="http://schemas.microsoft.com/office/powerpoint/2010/main" val="1476986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6EB65D-04C0-4835-B086-9CA4E293044F}"/>
              </a:ext>
            </a:extLst>
          </p:cNvPr>
          <p:cNvSpPr>
            <a:spLocks noGrp="1"/>
          </p:cNvSpPr>
          <p:nvPr>
            <p:ph type="title"/>
          </p:nvPr>
        </p:nvSpPr>
        <p:spPr/>
        <p:txBody>
          <a:bodyPr/>
          <a:lstStyle/>
          <a:p>
            <a:pPr algn="ctr"/>
            <a:r>
              <a:rPr lang="en-US" dirty="0"/>
              <a:t>INTERFACE DESIGN</a:t>
            </a:r>
            <a:endParaRPr lang="en-GB" dirty="0"/>
          </a:p>
        </p:txBody>
      </p:sp>
      <p:sp>
        <p:nvSpPr>
          <p:cNvPr id="3" name="Slide Number Placeholder 2">
            <a:extLst>
              <a:ext uri="{FF2B5EF4-FFF2-40B4-BE49-F238E27FC236}">
                <a16:creationId xmlns:a16="http://schemas.microsoft.com/office/drawing/2014/main" id="{EEFF7653-6065-4E7F-A4FD-7B30ECF6413E}"/>
              </a:ext>
            </a:extLst>
          </p:cNvPr>
          <p:cNvSpPr>
            <a:spLocks noGrp="1"/>
          </p:cNvSpPr>
          <p:nvPr>
            <p:ph type="sldNum" sz="quarter" idx="12"/>
          </p:nvPr>
        </p:nvSpPr>
        <p:spPr/>
        <p:txBody>
          <a:bodyPr/>
          <a:lstStyle/>
          <a:p>
            <a:fld id="{48F63A3B-78C7-47BE-AE5E-E10140E04643}" type="slidenum">
              <a:rPr lang="en-US" smtClean="0"/>
              <a:pPr/>
              <a:t>26</a:t>
            </a:fld>
            <a:endParaRPr lang="en-US" dirty="0"/>
          </a:p>
        </p:txBody>
      </p:sp>
      <p:pic>
        <p:nvPicPr>
          <p:cNvPr id="10" name="Content Placeholder 9">
            <a:extLst>
              <a:ext uri="{FF2B5EF4-FFF2-40B4-BE49-F238E27FC236}">
                <a16:creationId xmlns:a16="http://schemas.microsoft.com/office/drawing/2014/main" id="{B3E0CDAC-81CF-4BA5-9346-4ED7EDB4A03A}"/>
              </a:ext>
            </a:extLst>
          </p:cNvPr>
          <p:cNvPicPr>
            <a:picLocks noGrp="1" noChangeAspect="1"/>
          </p:cNvPicPr>
          <p:nvPr>
            <p:ph idx="1"/>
          </p:nvPr>
        </p:nvPicPr>
        <p:blipFill>
          <a:blip r:embed="rId2"/>
          <a:srcRect/>
          <a:stretch/>
        </p:blipFill>
        <p:spPr>
          <a:xfrm>
            <a:off x="5183188" y="2217703"/>
            <a:ext cx="6242050" cy="3350855"/>
          </a:xfrm>
        </p:spPr>
      </p:pic>
      <p:pic>
        <p:nvPicPr>
          <p:cNvPr id="12" name="Content Placeholder 11">
            <a:extLst>
              <a:ext uri="{FF2B5EF4-FFF2-40B4-BE49-F238E27FC236}">
                <a16:creationId xmlns:a16="http://schemas.microsoft.com/office/drawing/2014/main" id="{B431D2C8-C49C-4E5D-9AEE-9946CC89932F}"/>
              </a:ext>
            </a:extLst>
          </p:cNvPr>
          <p:cNvPicPr>
            <a:picLocks noGrp="1" noChangeAspect="1"/>
          </p:cNvPicPr>
          <p:nvPr>
            <p:ph sz="quarter" idx="4294967295"/>
          </p:nvPr>
        </p:nvPicPr>
        <p:blipFill rotWithShape="1">
          <a:blip r:embed="rId3"/>
          <a:srcRect l="20957" r="20957"/>
          <a:stretch/>
        </p:blipFill>
        <p:spPr>
          <a:xfrm>
            <a:off x="758889" y="2583712"/>
            <a:ext cx="3932237" cy="3269373"/>
          </a:xfrm>
        </p:spPr>
      </p:pic>
    </p:spTree>
    <p:extLst>
      <p:ext uri="{BB962C8B-B14F-4D97-AF65-F5344CB8AC3E}">
        <p14:creationId xmlns:p14="http://schemas.microsoft.com/office/powerpoint/2010/main" val="3374973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089213"/>
            <a:ext cx="9879437" cy="980844"/>
          </a:xfrm>
        </p:spPr>
        <p:txBody>
          <a:bodyPr/>
          <a:lstStyle/>
          <a:p>
            <a:r>
              <a:rPr lang="en-US" dirty="0"/>
              <a:t>Dynamic delivery</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27</a:t>
            </a:fld>
            <a:endParaRPr lang="en-US" dirty="0"/>
          </a:p>
        </p:txBody>
      </p:sp>
      <p:sp>
        <p:nvSpPr>
          <p:cNvPr id="7" name="Content Placeholder 6">
            <a:extLst>
              <a:ext uri="{FF2B5EF4-FFF2-40B4-BE49-F238E27FC236}">
                <a16:creationId xmlns:a16="http://schemas.microsoft.com/office/drawing/2014/main" id="{5F57DA77-A1C3-4A74-B014-0E3834A72A49}"/>
              </a:ext>
            </a:extLst>
          </p:cNvPr>
          <p:cNvSpPr>
            <a:spLocks noGrp="1"/>
          </p:cNvSpPr>
          <p:nvPr>
            <p:ph sz="half" idx="1"/>
          </p:nvPr>
        </p:nvSpPr>
        <p:spPr>
          <a:xfrm>
            <a:off x="1550563" y="2230582"/>
            <a:ext cx="9345235" cy="3721817"/>
          </a:xfrm>
        </p:spPr>
        <p:txBody>
          <a:bodyPr/>
          <a:lstStyle/>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Wang, X., &amp; Zhang, Y. (2019). </a:t>
            </a:r>
            <a:r>
              <a:rPr lang="en-US" b="1" dirty="0">
                <a:latin typeface="Times New Roman" panose="02020603050405020304" pitchFamily="18" charset="0"/>
                <a:cs typeface="Times New Roman" panose="02020603050405020304" pitchFamily="18" charset="0"/>
              </a:rPr>
              <a:t>A Survey on Recommendation Systems for E-Commerce Platforms.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Journal of Computer Science and Technology, 34(1)</a:t>
            </a:r>
            <a:r>
              <a:rPr lang="en-US" dirty="0">
                <a:latin typeface="Times New Roman" panose="02020603050405020304" pitchFamily="18" charset="0"/>
                <a:cs typeface="Times New Roman" panose="02020603050405020304" pitchFamily="18" charset="0"/>
              </a:rPr>
              <a:t>.</a:t>
            </a:r>
          </a:p>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Burke, R. (2021). </a:t>
            </a:r>
            <a:r>
              <a:rPr lang="en-US" b="1" dirty="0">
                <a:latin typeface="Times New Roman" panose="02020603050405020304" pitchFamily="18" charset="0"/>
                <a:cs typeface="Times New Roman" panose="02020603050405020304" pitchFamily="18" charset="0"/>
              </a:rPr>
              <a:t>Hybrid Recommender Systems: Survey and Experiments.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User Modeling and User-Adapted Interaction, 31(4).</a:t>
            </a:r>
            <a:endParaRPr lang="en-US"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Aggarwal, C. C. (2016). </a:t>
            </a:r>
            <a:r>
              <a:rPr lang="en-US" b="1" dirty="0">
                <a:latin typeface="Times New Roman" panose="02020603050405020304" pitchFamily="18" charset="0"/>
                <a:cs typeface="Times New Roman" panose="02020603050405020304" pitchFamily="18" charset="0"/>
              </a:rPr>
              <a:t>Recommender Systems: The Textbook.</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Springer.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847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818148" y="2065145"/>
            <a:ext cx="5715000" cy="2727709"/>
          </a:xfrm>
        </p:spPr>
        <p:txBody>
          <a:bodyPr/>
          <a:lstStyle/>
          <a:p>
            <a:pPr algn="ctr"/>
            <a:r>
              <a:rPr lang="en-US" sz="8800" dirty="0">
                <a:latin typeface="Times New Roman" panose="02020603050405020304" pitchFamily="18" charset="0"/>
                <a:cs typeface="Times New Roman" panose="02020603050405020304" pitchFamily="18" charset="0"/>
              </a:rPr>
              <a:t>Thank </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 Boardroom</Template>
  <TotalTime>916</TotalTime>
  <Words>827</Words>
  <Application>Microsoft Office PowerPoint</Application>
  <PresentationFormat>Widescreen</PresentationFormat>
  <Paragraphs>121</Paragraphs>
  <Slides>28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Black</vt:lpstr>
      <vt:lpstr>Calibri</vt:lpstr>
      <vt:lpstr>Sabon Next LT</vt:lpstr>
      <vt:lpstr>Times New Roman</vt:lpstr>
      <vt:lpstr>Custom</vt:lpstr>
      <vt:lpstr>TRIBHUVAN UNIVERSITY</vt:lpstr>
      <vt:lpstr>CONTENTS</vt:lpstr>
      <vt:lpstr>INTRODUCTION</vt:lpstr>
      <vt:lpstr>PROBLEM STATEMENT</vt:lpstr>
      <vt:lpstr>OBJECTIVES</vt:lpstr>
      <vt:lpstr>SCOPE</vt:lpstr>
      <vt:lpstr>Process model</vt:lpstr>
      <vt:lpstr>TOOLS FOR THE PROJECT</vt:lpstr>
      <vt:lpstr>Functional Requirement</vt:lpstr>
      <vt:lpstr>Non-Functional Requirement</vt:lpstr>
      <vt:lpstr>Use Case Diagram</vt:lpstr>
      <vt:lpstr>Architectural design</vt:lpstr>
      <vt:lpstr>Dfd level 0</vt:lpstr>
      <vt:lpstr>Dfd level 1</vt:lpstr>
      <vt:lpstr>User details</vt:lpstr>
      <vt:lpstr>product details</vt:lpstr>
      <vt:lpstr>payment details</vt:lpstr>
      <vt:lpstr>order details</vt:lpstr>
      <vt:lpstr>Database schema design </vt:lpstr>
      <vt:lpstr>Database design </vt:lpstr>
      <vt:lpstr>Er diagram</vt:lpstr>
      <vt:lpstr>ALGORITHM</vt:lpstr>
      <vt:lpstr>GANTT CHART</vt:lpstr>
      <vt:lpstr>Expected Outcomes</vt:lpstr>
      <vt:lpstr>INTERFACE DESIGN</vt:lpstr>
      <vt:lpstr>INTERFACE DESIGN</vt:lpstr>
      <vt:lpstr>Dynamic delivery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TRIBHUVAN UNIVERSITY</dc:title>
  <dc:subject/>
  <dc:creator>Sudip Khatri</dc:creator>
  <cp:lastModifiedBy>Sudip Khatri</cp:lastModifiedBy>
  <cp:revision>40</cp:revision>
  <dcterms:created xsi:type="dcterms:W3CDTF">2025-04-23T06:46:38Z</dcterms:created>
  <dcterms:modified xsi:type="dcterms:W3CDTF">2025-08-06T02:39:14Z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